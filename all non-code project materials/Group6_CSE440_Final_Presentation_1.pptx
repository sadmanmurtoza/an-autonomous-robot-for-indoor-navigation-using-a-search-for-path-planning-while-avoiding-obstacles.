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648EF-CDE4-9BC7-6705-91AC5AA030A4}" v="28" dt="2026-08-26T18:05:39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64922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Aptos"/>
              </a:defRPr>
            </a:pPr>
            <a:r>
              <a:t>CSE440  • 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766560" cy="12344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3100" b="1">
                <a:solidFill>
                  <a:srgbClr val="F5F8FC"/>
                </a:solidFill>
                <a:latin typeface="Aptos Display"/>
              </a:defRPr>
            </a:pPr>
            <a:r>
              <a:t>AUTONOMOUS INDOOR</a:t>
            </a:r>
            <a:br/>
            <a:r>
              <a:t>NAVIGATION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15184"/>
            <a:ext cx="63093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0">
                <a:solidFill>
                  <a:srgbClr val="ADBBD0"/>
                </a:solidFill>
                <a:latin typeface="Aptos"/>
              </a:defRPr>
            </a:pPr>
            <a:r>
              <a:t>Using A* Search for Path Planning</a:t>
            </a:r>
            <a:br/>
            <a:r>
              <a:t>with Dynamic Obstacle Replanning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29000"/>
            <a:ext cx="6126480" cy="10789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3621024"/>
            <a:ext cx="5715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Aptos"/>
              </a:defRPr>
            </a:pPr>
            <a:r>
              <a:t>SOFTWARE-ONLY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941063"/>
            <a:ext cx="57150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  <a:latin typeface="Aptos"/>
              </a:defRPr>
            </a:pPr>
            <a:r>
              <a:t>Python  •  Tkinter  •  Occupancy Grid  •  A*  •  Virtual 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10912"/>
            <a:ext cx="621792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rPr sz="1200"/>
              <a:t>PROJECT GROUP 6  |  NORTH SOUTH UNIVERSITY</a:t>
            </a:r>
            <a:endParaRPr lang="en-US" sz="1200"/>
          </a:p>
        </p:txBody>
      </p:sp>
      <p:sp>
        <p:nvSpPr>
          <p:cNvPr id="13" name="Rounded Rectangle 12"/>
          <p:cNvSpPr/>
          <p:nvPr/>
        </p:nvSpPr>
        <p:spPr>
          <a:xfrm>
            <a:off x="7315200" y="868680"/>
            <a:ext cx="4315968" cy="50749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6096" y="1143000"/>
            <a:ext cx="36576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700784"/>
            <a:ext cx="3520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50" b="1">
                <a:solidFill>
                  <a:srgbClr val="F5F8FC"/>
                </a:solidFill>
                <a:latin typeface="Aptos"/>
              </a:defRPr>
            </a:pPr>
            <a:r>
              <a:t>MD ASRAFUL HOSSAIN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1993392"/>
            <a:ext cx="3520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2232845642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368296"/>
            <a:ext cx="3246120" cy="10972"/>
          </a:xfrm>
          <a:prstGeom prst="rect">
            <a:avLst/>
          </a:prstGeom>
          <a:solidFill>
            <a:srgbClr val="2F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2" y="2596896"/>
            <a:ext cx="3520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50" b="1">
                <a:solidFill>
                  <a:srgbClr val="F5F8FC"/>
                </a:solidFill>
                <a:latin typeface="Aptos"/>
              </a:defRPr>
            </a:pPr>
            <a:r>
              <a:t>MD. SADMAN BIN MURTOZA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889503"/>
            <a:ext cx="3520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2232901642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264408"/>
            <a:ext cx="3246120" cy="10972"/>
          </a:xfrm>
          <a:prstGeom prst="rect">
            <a:avLst/>
          </a:prstGeom>
          <a:solidFill>
            <a:srgbClr val="2F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2672" y="3493008"/>
            <a:ext cx="3520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50" b="1">
                <a:solidFill>
                  <a:srgbClr val="F5F8FC"/>
                </a:solidFill>
                <a:latin typeface="Aptos"/>
              </a:defRPr>
            </a:pPr>
            <a:r>
              <a:t>FAHIMA SHAMEEM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785616"/>
            <a:ext cx="3520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2131420642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4160520"/>
            <a:ext cx="3246120" cy="10972"/>
          </a:xfrm>
          <a:prstGeom prst="rect">
            <a:avLst/>
          </a:prstGeom>
          <a:solidFill>
            <a:srgbClr val="2F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2672" y="4389120"/>
            <a:ext cx="3520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50" b="1">
                <a:solidFill>
                  <a:srgbClr val="F5F8FC"/>
                </a:solidFill>
                <a:latin typeface="Aptos"/>
              </a:defRPr>
            </a:pPr>
            <a:r>
              <a:t>SANJIDA JAMAN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681728"/>
            <a:ext cx="3520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2212231042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5358384"/>
            <a:ext cx="37673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1">
                <a:solidFill>
                  <a:srgbClr val="FACC15"/>
                </a:solidFill>
                <a:latin typeface="Aptos"/>
              </a:defRPr>
            </a:pPr>
            <a:r>
              <a:t>PLAN  →  ACT  →  CHECK  →  ADAPT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055" y="5260450"/>
            <a:ext cx="23451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2DC4F5"/>
                </a:solidFill>
                <a:latin typeface="Aptos"/>
              </a:rPr>
              <a:t>SECTION 2  •  FACULTY: MSRB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1  |  The AI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Indoor navigation is a goal-based intelligent-agent problem: the agent must plan, act, observe a changing grid, and revise its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0604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2240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the agent knows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224028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0">
                <a:solidFill>
                  <a:srgbClr val="ADBBD0"/>
                </a:solidFill>
                <a:latin typeface="Aptos"/>
              </a:defRPr>
            </a:pPr>
            <a:r>
              <a:t>Occupancy grid + current robot position</a:t>
            </a:r>
            <a:br/>
            <a:r>
              <a:t>Start and destination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417320"/>
            <a:ext cx="260604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627632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34D399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984248"/>
            <a:ext cx="2240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it must achieve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450592"/>
            <a:ext cx="224028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0">
                <a:solidFill>
                  <a:srgbClr val="ADBBD0"/>
                </a:solidFill>
                <a:latin typeface="Aptos"/>
              </a:defRPr>
            </a:pPr>
            <a:r>
              <a:t>Reach destination</a:t>
            </a:r>
            <a:br/>
            <a:r>
              <a:t>without entering blocked cells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417320"/>
            <a:ext cx="260604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1627632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ACC15"/>
                </a:solidFill>
                <a:latin typeface="Aptos"/>
              </a:defRPr>
            </a:pPr>
            <a:r>
              <a:t>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1984248"/>
            <a:ext cx="2240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it can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450592"/>
            <a:ext cx="224028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0">
                <a:solidFill>
                  <a:srgbClr val="ADBBD0"/>
                </a:solidFill>
                <a:latin typeface="Aptos"/>
              </a:defRPr>
            </a:pPr>
            <a:r>
              <a:t>Move ↑ ↓ ← → one cell at a time</a:t>
            </a:r>
            <a:br/>
            <a:r>
              <a:t>Unit movement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1417320"/>
            <a:ext cx="260604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9176" y="1627632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87171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1984248"/>
            <a:ext cx="2240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Why planning is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450592"/>
            <a:ext cx="224028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00" b="0">
                <a:solidFill>
                  <a:srgbClr val="ADBBD0"/>
                </a:solidFill>
                <a:latin typeface="Aptos"/>
              </a:defRPr>
            </a:pPr>
            <a:r>
              <a:t>Obstacles may appear on the remaining route</a:t>
            </a:r>
            <a:br/>
            <a:r>
              <a:t>A valid old plan can become invalid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11880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THE AGENT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77639"/>
            <a:ext cx="2084831" cy="135331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94944" y="4105655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" y="4114800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096511"/>
            <a:ext cx="1298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5" y="4434840"/>
            <a:ext cx="129844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grid + robot state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60904" y="4645152"/>
            <a:ext cx="210312" cy="0"/>
          </a:xfrm>
          <a:prstGeom prst="line">
            <a:avLst/>
          </a:prstGeom>
          <a:ln w="1905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80360" y="3977639"/>
            <a:ext cx="2084831" cy="135331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008376" y="4105655"/>
            <a:ext cx="438912" cy="43891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08376" y="4114800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4096511"/>
            <a:ext cx="1298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4434840"/>
            <a:ext cx="129844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A* chooses a promising route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974336" y="4645152"/>
            <a:ext cx="210312" cy="0"/>
          </a:xfrm>
          <a:prstGeom prst="line">
            <a:avLst/>
          </a:prstGeom>
          <a:ln w="1905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93792" y="3977639"/>
            <a:ext cx="2084831" cy="135331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321807" y="4105655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21807" y="4114800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4096511"/>
            <a:ext cx="1298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59" y="4434840"/>
            <a:ext cx="129844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move one safe cell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87768" y="4645152"/>
            <a:ext cx="210311" cy="0"/>
          </a:xfrm>
          <a:prstGeom prst="line">
            <a:avLst/>
          </a:prstGeom>
          <a:ln w="1905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07223" y="3977639"/>
            <a:ext cx="2084831" cy="135331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35240" y="4105655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4114800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4096511"/>
            <a:ext cx="1298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5592" y="4434840"/>
            <a:ext cx="129844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validate next cell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01200" y="4645152"/>
            <a:ext cx="210311" cy="0"/>
          </a:xfrm>
          <a:prstGeom prst="line">
            <a:avLst/>
          </a:prstGeom>
          <a:ln w="1905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820655" y="3977639"/>
            <a:ext cx="2084831" cy="135331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948672" y="4105655"/>
            <a:ext cx="438912" cy="43891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48672" y="4114800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9024" y="4096511"/>
            <a:ext cx="1298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ADAPT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9024" y="4434840"/>
            <a:ext cx="129844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replan if blocked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559552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  <a:latin typeface="Aptos"/>
              </a:defRPr>
            </a:pPr>
            <a:r>
              <a:t>AI connection: the system uses heuristic knowledge to guide search toward the goal, executes actions, and changes its plan when the environment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2  |  Environment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The indoor floor plan is discretized into an occupancy grid so that navigation becomes a graph-search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4572000" cy="45262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OCCUPANCY GRID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397763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0 = FREE CELL      1 = OBSTACLE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42032"/>
            <a:ext cx="3931920" cy="205740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 Each cell is a navigable state in the search space.</a:t>
            </a:r>
          </a:p>
          <a:p>
            <a:pPr>
              <a:spcAft>
                <a:spcPts val="6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 Start and destination are user-selected free cells.</a:t>
            </a:r>
          </a:p>
          <a:p>
            <a:pPr>
              <a:spcAft>
                <a:spcPts val="6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 Obstacles can be added or removed while the simulation is running.</a:t>
            </a:r>
          </a:p>
          <a:p>
            <a:pPr>
              <a:spcAft>
                <a:spcPts val="6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 The map module also validates and saves/loads grid layouts.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166360"/>
            <a:ext cx="3886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Aptos"/>
              </a:defRPr>
            </a:pPr>
            <a:r>
              <a:t>Movement model: 4-connected grid</a:t>
            </a:r>
          </a:p>
        </p:txBody>
      </p:sp>
      <p:pic>
        <p:nvPicPr>
          <p:cNvPr id="13" name="Picture 12" descr="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389888"/>
            <a:ext cx="6336792" cy="39593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21808" y="5468112"/>
            <a:ext cx="6336792" cy="393192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4688" y="5532120"/>
            <a:ext cx="594360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880" b="0">
                <a:solidFill>
                  <a:srgbClr val="ADBBD0"/>
                </a:solidFill>
                <a:latin typeface="Aptos"/>
              </a:defRPr>
            </a:pPr>
            <a:r>
              <a:t>GUI legend: green = start  •  red = goal  •  dark = obstacle  •  yellow = planned route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3  |  Why A*?  —  Informed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A* combines the cost already travelled with an estimate of the remaining cost, making search goal-directed rather than blind.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3657600" cy="16002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00200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t>A*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31546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500" b="1">
                <a:solidFill>
                  <a:srgbClr val="FACC15"/>
                </a:solidFill>
                <a:latin typeface="Aptos"/>
              </a:defRPr>
            </a:pPr>
            <a:r>
              <a:t>f(n) = g(n) + h(n)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32888"/>
            <a:ext cx="31546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t>best estimated total path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36392"/>
            <a:ext cx="1700784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355848"/>
            <a:ext cx="1417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2DD4BF"/>
                </a:solidFill>
                <a:latin typeface="Aptos"/>
              </a:defRPr>
            </a:pPr>
            <a:r>
              <a:t>g(n)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767328"/>
            <a:ext cx="1417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F5F8FC"/>
                </a:solidFill>
                <a:latin typeface="Aptos"/>
              </a:defRPr>
            </a:pPr>
            <a:r>
              <a:t>actual cost</a:t>
            </a:r>
            <a:br/>
            <a:r>
              <a:t>from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3136392"/>
            <a:ext cx="1700784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33472" y="3355848"/>
            <a:ext cx="1417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Aptos"/>
              </a:defRPr>
            </a:pPr>
            <a:r>
              <a:t>h(n)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767328"/>
            <a:ext cx="1417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F5F8FC"/>
                </a:solidFill>
                <a:latin typeface="Aptos"/>
              </a:defRPr>
            </a:pPr>
            <a:r>
              <a:t>estimated cost</a:t>
            </a:r>
            <a:br/>
            <a:r>
              <a:t>to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325880"/>
            <a:ext cx="7223760" cy="322783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1572768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MANHATTAN HEURISTIC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1901952"/>
            <a:ext cx="658368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900" b="1">
                <a:solidFill>
                  <a:srgbClr val="38BDF8"/>
                </a:solidFill>
                <a:latin typeface="Aptos"/>
              </a:defRPr>
            </a:pPr>
            <a:r>
              <a:t>h(n) = |x₁ − x₂| + |y₁ − y₂|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514600"/>
            <a:ext cx="6583680" cy="15087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5F8FC"/>
                </a:solidFill>
                <a:latin typeface="Aptos"/>
              </a:defRPr>
            </a:pPr>
            <a:r>
              <a:t>•  Matches the robot's movement restriction to up, down, left, and right.</a:t>
            </a:r>
          </a:p>
          <a:p>
            <a:pPr>
              <a:spcAft>
                <a:spcPts val="500"/>
              </a:spcAft>
              <a:defRPr sz="1080">
                <a:solidFill>
                  <a:srgbClr val="F5F8FC"/>
                </a:solidFill>
                <a:latin typeface="Aptos"/>
              </a:defRPr>
            </a:pPr>
            <a:r>
              <a:t>•  Each move has equal cost, so Manhattan distance never needs diagonal shortcuts.</a:t>
            </a:r>
          </a:p>
          <a:p>
            <a:pPr>
              <a:spcAft>
                <a:spcPts val="500"/>
              </a:spcAft>
              <a:defRPr sz="1080">
                <a:solidFill>
                  <a:srgbClr val="F5F8FC"/>
                </a:solidFill>
                <a:latin typeface="Aptos"/>
              </a:defRPr>
            </a:pPr>
            <a:r>
              <a:t>•  The heuristic guides A* toward states that are promising for the destination.</a:t>
            </a:r>
          </a:p>
          <a:p>
            <a:pPr>
              <a:spcAft>
                <a:spcPts val="500"/>
              </a:spcAft>
              <a:defRPr sz="1080">
                <a:solidFill>
                  <a:srgbClr val="F5F8FC"/>
                </a:solidFill>
                <a:latin typeface="Aptos"/>
              </a:defRPr>
            </a:pPr>
            <a:r>
              <a:t>•  The planner uses a priority queue to expand the lowest estimated-cost state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64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SEARCH BEHAVIOR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184648"/>
            <a:ext cx="2578608" cy="877824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22376" y="5312664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5321808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5303520"/>
            <a:ext cx="179222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EXPAND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5641848"/>
            <a:ext cx="1792224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Choose the lowest f(n).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5184648"/>
            <a:ext cx="2578608" cy="877824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493008" y="5312664"/>
            <a:ext cx="438912" cy="43891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93008" y="5321808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303520"/>
            <a:ext cx="179222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641848"/>
            <a:ext cx="1792224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Check valid neighbors.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5184648"/>
            <a:ext cx="2578608" cy="877824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263640" y="5312664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5321808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5303520"/>
            <a:ext cx="179222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RECONSTRUCT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3992" y="5641848"/>
            <a:ext cx="1792224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Trace the best path.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06256" y="5184648"/>
            <a:ext cx="2578608" cy="877824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34272" y="5312664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34272" y="5321808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4624" y="5303520"/>
            <a:ext cx="179222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5641848"/>
            <a:ext cx="1792224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t>Confirm every step is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4  |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Four focused modules separate data, planning, robot behaviour, and visualization; main.py integrates the complete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5440680" cy="166420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38BDF8"/>
                </a:solidFill>
                <a:latin typeface="Aptos"/>
              </a:defRPr>
            </a:pPr>
            <a:r>
              <a:t>MEMBER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t>map_model.py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1"/>
            <a:ext cx="51114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50"/>
              <a:t>Occupancy-grid creation • obstacle management • start/goal selection • map save/load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440680" cy="166420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4533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FACC15"/>
                </a:solidFill>
                <a:latin typeface="Aptos"/>
              </a:defRPr>
            </a:pPr>
            <a:r>
              <a:t>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10512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67128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t>astar.py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50591"/>
            <a:ext cx="51114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50"/>
              <a:t>A* search • Manhattan heuristic • priority queue • path reconstruction • validation • replanning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55848"/>
            <a:ext cx="5440680" cy="166420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483864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34D399"/>
                </a:solidFill>
                <a:latin typeface="Aptos"/>
              </a:defRPr>
            </a:pPr>
            <a:r>
              <a:t>MEMBER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ACTION /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t>virtual_robot.py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51114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50"/>
              <a:t>Step-by-step movement • travelled/remaining path • pause/resume/stop • blocked-cell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55848"/>
            <a:ext cx="5440680" cy="166420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483864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A78BFA"/>
                </a:solidFill>
                <a:latin typeface="Aptos"/>
              </a:defRPr>
            </a:pPr>
            <a:r>
              <a:t>MEMBER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749039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VISUALIZATION /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10565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t>gui_graphics.py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389120"/>
            <a:ext cx="51114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50"/>
              <a:t>Tkinter interface • rendering • controls • warnings • performance panel • system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41648" y="5349240"/>
            <a:ext cx="4069080" cy="658368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24528" y="5486400"/>
            <a:ext cx="3703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2F5FA"/>
                </a:solidFill>
              </a:rPr>
              <a:t>main.py  →  GROUP-LEVEL INTEGRATION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91840" y="4709160"/>
            <a:ext cx="1280160" cy="612648"/>
          </a:xfrm>
          <a:prstGeom prst="line">
            <a:avLst/>
          </a:prstGeom>
          <a:ln w="1651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635240" y="4709160"/>
            <a:ext cx="1234440" cy="612648"/>
          </a:xfrm>
          <a:prstGeom prst="line">
            <a:avLst/>
          </a:prstGeom>
          <a:ln w="1651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080760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FBED2"/>
                </a:solidFill>
              </a:rPr>
              <a:t>Each member developed a core module; main.py connects the modules for the complete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5  |  From Plan to Safe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A computed path is not blindly trusted: the virtual robot re-checks the next cell immediately before movement.</a:t>
            </a:r>
          </a:p>
        </p:txBody>
      </p:sp>
      <p:pic>
        <p:nvPicPr>
          <p:cNvPr id="8" name="Picture 7" descr="gui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4168"/>
            <a:ext cx="6537960" cy="39136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13248"/>
            <a:ext cx="6537960" cy="475488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504688"/>
            <a:ext cx="6217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1">
                <a:solidFill>
                  <a:srgbClr val="F5F8FC"/>
                </a:solidFill>
                <a:latin typeface="Aptos"/>
              </a:defRPr>
            </a:pPr>
            <a:r>
              <a:t>Example: the route changes after a new obstacle blocks the remaining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389888"/>
            <a:ext cx="4023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SAFETY + REPLANNING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764792"/>
            <a:ext cx="4160520" cy="6400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43216" y="1892807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43216" y="1901952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1892807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rPr sz="1400" b="1"/>
              <a:t>FOLLOW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532888"/>
            <a:ext cx="4160520" cy="6400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43216" y="2642616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43216" y="2651760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660904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rPr sz="1400" b="1"/>
              <a:t>DETECT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300984"/>
            <a:ext cx="4160520" cy="6400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43216" y="3392424"/>
            <a:ext cx="438912" cy="43891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43216" y="3401568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3429000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rPr sz="1400" b="1"/>
              <a:t>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069080"/>
            <a:ext cx="4160520" cy="6400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43216" y="4142231"/>
            <a:ext cx="438912" cy="43891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43216" y="4151376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197096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rPr sz="1400" b="1"/>
              <a:t>REPLAN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837176"/>
            <a:ext cx="4160520" cy="64008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43216" y="4892040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43216" y="4901184"/>
            <a:ext cx="438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200" b="1">
                <a:solidFill>
                  <a:srgbClr val="080E1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965192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F5F8FC"/>
                </a:solidFill>
                <a:latin typeface="Aptos"/>
              </a:defRPr>
            </a:pPr>
            <a:r>
              <a:rPr sz="1400" b="1"/>
              <a:t>CONTINUE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5623560"/>
            <a:ext cx="4160520" cy="43891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defRPr sz="1019" b="1">
                <a:solidFill>
                  <a:srgbClr val="F5F8FC"/>
                </a:solidFill>
                <a:latin typeface="Aptos"/>
              </a:defRPr>
            </a:pPr>
            <a:r>
              <a:rPr sz="900" b="1"/>
              <a:t>Key safety idea: planning and movement validation are separate — a stale route cannot force entry into a newly blocked cell.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2157984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AAB8CE"/>
                </a:solidFill>
                <a:latin typeface="Aptos"/>
              </a:rPr>
              <a:t>Robot moves along the current route.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292608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AAB8CE"/>
                </a:solidFill>
                <a:latin typeface="Aptos"/>
              </a:rPr>
              <a:t>Next planned cell is checked before entry.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694176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AAB8CE"/>
                </a:solidFill>
                <a:latin typeface="Aptos"/>
              </a:rPr>
              <a:t>If blocked, robot remains at its last safe position.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4462272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AAB8CE"/>
                </a:solidFill>
                <a:latin typeface="Aptos"/>
              </a:rPr>
              <a:t>A* starts again from the current position.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5230368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AAB8CE"/>
                </a:solidFill>
                <a:latin typeface="Aptos"/>
              </a:rPr>
              <a:t>New route is accepted only if valid.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2F6FC"/>
                </a:solidFill>
                <a:latin typeface="Aptos"/>
              </a:rPr>
              <a:t>6  |  Team Contributions &amp; Collaborative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ED3E8"/>
                </a:solidFill>
                <a:latin typeface="Aptos"/>
              </a:rPr>
              <a:t>Each member owned a core module; integration, debugging, testing, and the final runnable system were completed collaboratively.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44068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9961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38BDF8"/>
                </a:solidFill>
                <a:latin typeface="Aptos"/>
              </a:defRPr>
            </a:pPr>
            <a:r>
              <a:rPr sz="1000" b="1">
                <a:solidFill>
                  <a:srgbClr val="2DC4F5"/>
                </a:solidFill>
                <a:latin typeface="Aptos"/>
              </a:rPr>
              <a:t>MD ASRAFUL HOSSAIN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64792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rPr sz="1300" b="1">
                <a:solidFill>
                  <a:srgbClr val="F2F6FC"/>
                </a:solidFill>
                <a:latin typeface="Aptos"/>
              </a:rPr>
              <a:t>BUILDING THE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rPr sz="1000" b="1">
                <a:solidFill>
                  <a:srgbClr val="2AE1B8"/>
                </a:solidFill>
                <a:latin typeface="Aptos"/>
              </a:rPr>
              <a:t>map_model.py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5111496" cy="7589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00" b="0">
                <a:solidFill>
                  <a:srgbClr val="BED3E8"/>
                </a:solidFill>
                <a:latin typeface="Aptos"/>
              </a:rPr>
              <a:t>Creates/resizes the occupancy grid; manages obstacles; protects start/destination cells; supports JSON map save/load and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371600"/>
            <a:ext cx="544068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149961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FACC15"/>
                </a:solidFill>
                <a:latin typeface="Aptos"/>
              </a:defRPr>
            </a:pPr>
            <a:r>
              <a:rPr sz="1000" b="1">
                <a:solidFill>
                  <a:srgbClr val="FFC71E"/>
                </a:solidFill>
                <a:latin typeface="Aptos"/>
              </a:rPr>
              <a:t>MD. SADMAN BIN MURTOZA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1764792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rPr sz="1300" b="1">
                <a:solidFill>
                  <a:srgbClr val="F2F6FC"/>
                </a:solidFill>
                <a:latin typeface="Aptos"/>
              </a:rPr>
              <a:t>FINDING THE BEST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121408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>
                <a:solidFill>
                  <a:srgbClr val="FFC71E"/>
                </a:solidFill>
                <a:latin typeface="Aptos"/>
              </a:rPr>
              <a:t>astar.py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404872"/>
            <a:ext cx="5111496" cy="7589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BED3E8"/>
                </a:solidFill>
                <a:latin typeface="Aptos"/>
              </a:rPr>
              <a:t>Implemented A* search, Manhattan heuristic, neighbor expansion, priority queue, path reconstruction and validation, explored-node tracking, performance reporting, and the replanning entry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20440"/>
            <a:ext cx="544068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4845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34D399"/>
                </a:solidFill>
                <a:latin typeface="Aptos"/>
              </a:defRPr>
            </a:pPr>
            <a:r>
              <a:rPr sz="1000" b="1">
                <a:solidFill>
                  <a:srgbClr val="2AE1B8"/>
                </a:solidFill>
                <a:latin typeface="Aptos"/>
              </a:rPr>
              <a:t>FAHIMA SHAMEEM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rPr sz="1300" b="1">
                <a:solidFill>
                  <a:srgbClr val="F2F6FC"/>
                </a:solidFill>
                <a:latin typeface="Aptos"/>
              </a:rPr>
              <a:t>MAKING THE ROBOT ACT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rPr sz="1000" b="1">
                <a:solidFill>
                  <a:srgbClr val="2AE1B8"/>
                </a:solidFill>
                <a:latin typeface="Aptos"/>
              </a:rPr>
              <a:t>virtual_robot.py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53712"/>
            <a:ext cx="5111496" cy="7589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00" b="0">
                <a:solidFill>
                  <a:srgbClr val="BED3E8"/>
                </a:solidFill>
                <a:latin typeface="Aptos"/>
              </a:rPr>
              <a:t>Manages robot state, step-by-step movement, travelled/remaining cells, pause/resume/stop/reset, blocked-next-cell detection, and acceptance of replanned paths.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520440"/>
            <a:ext cx="5440680" cy="1874519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79" y="3648456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A78BFA"/>
                </a:solidFill>
                <a:latin typeface="Aptos"/>
              </a:defRPr>
            </a:pPr>
            <a:r>
              <a:rPr sz="1000" b="1">
                <a:solidFill>
                  <a:srgbClr val="A984FF"/>
                </a:solidFill>
                <a:latin typeface="Aptos"/>
              </a:rPr>
              <a:t>SANJIDA JAMAN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3913632"/>
            <a:ext cx="51114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rPr sz="1300" b="1">
                <a:solidFill>
                  <a:srgbClr val="F2F6FC"/>
                </a:solidFill>
                <a:latin typeface="Aptos"/>
              </a:rPr>
              <a:t>MAKING THE AI VISIBLE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270248"/>
            <a:ext cx="5111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1">
                <a:solidFill>
                  <a:srgbClr val="2DD4BF"/>
                </a:solidFill>
                <a:latin typeface="Aptos"/>
              </a:defRPr>
            </a:pPr>
            <a:r>
              <a:rPr sz="1000" b="1">
                <a:solidFill>
                  <a:srgbClr val="A984FF"/>
                </a:solidFill>
                <a:latin typeface="Aptos"/>
              </a:rPr>
              <a:t>gui_graphics.py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553712"/>
            <a:ext cx="5111496" cy="7589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1000" b="0">
                <a:solidFill>
                  <a:srgbClr val="BED3E8"/>
                </a:solidFill>
                <a:latin typeface="Aptos"/>
              </a:rPr>
              <a:t>Implemented Tkinter GUI, colour-coded grid/path/robot rendering, controls, warnings, performance dashboard, and in-application system tests.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42432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>
                <a:solidFill>
                  <a:srgbClr val="F2F6FC"/>
                </a:solidFill>
                <a:latin typeface="Aptos"/>
              </a:rPr>
              <a:t>GROUP-LEVEL INTEGRATION  →  main.py connects all modules into the final runnable system. All four members contributed to integration, debugging, and end-to-end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7  |  GUI = Visualization +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The interface is not only a front end: it exposes the agent's internal decisions, state, safety checks, and measured performance.</a:t>
            </a:r>
          </a:p>
        </p:txBody>
      </p:sp>
      <p:pic>
        <p:nvPicPr>
          <p:cNvPr id="8" name="Picture 7" descr="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4168"/>
            <a:ext cx="6812280" cy="424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3800" y="1389888"/>
            <a:ext cx="3840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WHAT THE USER CAN SEE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16368" y="1783080"/>
            <a:ext cx="4069080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1883664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19" b="1">
                <a:solidFill>
                  <a:srgbClr val="38BDF8"/>
                </a:solidFill>
                <a:latin typeface="Aptos"/>
              </a:defRPr>
            </a:pPr>
            <a:r>
              <a:rPr sz="950"/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65376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40" b="0">
                <a:solidFill>
                  <a:srgbClr val="F5F8FC"/>
                </a:solidFill>
                <a:latin typeface="Aptos"/>
              </a:defRPr>
            </a:pPr>
            <a:r>
              <a:rPr sz="1000"/>
              <a:t>Free cells, obstacles, start and destination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16368" y="2551176"/>
            <a:ext cx="4069080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2651760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19" b="1">
                <a:solidFill>
                  <a:srgbClr val="38BDF8"/>
                </a:solidFill>
                <a:latin typeface="Aptos"/>
              </a:defRPr>
            </a:pPr>
            <a:r>
              <a:rPr sz="950"/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633472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40" b="0">
                <a:solidFill>
                  <a:srgbClr val="F5F8FC"/>
                </a:solidFill>
                <a:latin typeface="Aptos"/>
              </a:defRPr>
            </a:pPr>
            <a:r>
              <a:rPr sz="1000"/>
              <a:t>Explored cells + selected A*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8" y="3319272"/>
            <a:ext cx="4069080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419856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19" b="1">
                <a:solidFill>
                  <a:srgbClr val="38BDF8"/>
                </a:solidFill>
                <a:latin typeface="Aptos"/>
              </a:defRPr>
            </a:pPr>
            <a:r>
              <a:rPr sz="950"/>
              <a:t>ROBOT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401568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40" b="0">
                <a:solidFill>
                  <a:srgbClr val="F5F8FC"/>
                </a:solidFill>
                <a:latin typeface="Aptos"/>
              </a:defRPr>
            </a:pPr>
            <a:r>
              <a:rPr sz="1000"/>
              <a:t>Current position + travelled route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4087368"/>
            <a:ext cx="4069080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4187952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19" b="1">
                <a:solidFill>
                  <a:srgbClr val="38BDF8"/>
                </a:solidFill>
                <a:latin typeface="Aptos"/>
              </a:defRPr>
            </a:pPr>
            <a:r>
              <a:rPr sz="950"/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169663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40" b="0">
                <a:solidFill>
                  <a:srgbClr val="F5F8FC"/>
                </a:solidFill>
                <a:latin typeface="Aptos"/>
              </a:defRPr>
            </a:pPr>
            <a:r>
              <a:rPr sz="1000"/>
              <a:t>Find path, run, pause, stop, reset, save/load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6368" y="4855464"/>
            <a:ext cx="4069080" cy="62179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956048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19" b="1">
                <a:solidFill>
                  <a:srgbClr val="38BDF8"/>
                </a:solidFill>
                <a:latin typeface="Aptos"/>
              </a:defRPr>
            </a:pPr>
            <a:r>
              <a:rPr sz="950"/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937759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40" b="0">
                <a:solidFill>
                  <a:srgbClr val="F5F8FC"/>
                </a:solidFill>
                <a:latin typeface="Aptos"/>
              </a:defRPr>
            </a:pPr>
            <a:r>
              <a:rPr sz="1000"/>
              <a:t>Path length, explored nodes, calculation time, system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5742432"/>
            <a:ext cx="4069080" cy="5029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5833872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2F5FA"/>
                </a:solidFill>
              </a:rPr>
              <a:t>The GUI turns an abstract search algorithm into observable agent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8  |  Testing &amp; Measured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We verified correctness, failure handling, dynamic replanning, cross-module integration, and representative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FUNCTIONAL TEST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4800600" cy="53035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64792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37360"/>
            <a:ext cx="1600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5F8FC"/>
                </a:solidFill>
                <a:latin typeface="Aptos"/>
              </a:defRPr>
            </a:pPr>
            <a:r>
              <a:t>Reachable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737360"/>
            <a:ext cx="2423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69" b="0">
                <a:solidFill>
                  <a:srgbClr val="ADBBD0"/>
                </a:solidFill>
                <a:latin typeface="Aptos"/>
              </a:defRPr>
            </a:pPr>
            <a:r>
              <a:t>valid route returned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4800600" cy="53035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432303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1600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5F8FC"/>
                </a:solidFill>
                <a:latin typeface="Aptos"/>
              </a:defRPr>
            </a:pPr>
            <a:r>
              <a:t>Unreachable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404872"/>
            <a:ext cx="2423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69" b="0">
                <a:solidFill>
                  <a:srgbClr val="ADBBD0"/>
                </a:solidFill>
                <a:latin typeface="Aptos"/>
              </a:defRPr>
            </a:pPr>
            <a:r>
              <a:t>safe failure 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99232"/>
            <a:ext cx="4800600" cy="53035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099816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72384"/>
            <a:ext cx="1600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5F8FC"/>
                </a:solidFill>
                <a:latin typeface="Aptos"/>
              </a:defRPr>
            </a:pPr>
            <a:r>
              <a:t>Narrow passage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072384"/>
            <a:ext cx="2423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69" b="0">
                <a:solidFill>
                  <a:srgbClr val="ADBBD0"/>
                </a:solidFill>
                <a:latin typeface="Aptos"/>
              </a:defRPr>
            </a:pPr>
            <a:r>
              <a:t>constrained route found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66744"/>
            <a:ext cx="4800600" cy="53035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767328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39896"/>
            <a:ext cx="1600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5F8FC"/>
                </a:solidFill>
                <a:latin typeface="Aptos"/>
              </a:defRPr>
            </a:pPr>
            <a:r>
              <a:t>Obstacle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739896"/>
            <a:ext cx="2423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69" b="0">
                <a:solidFill>
                  <a:srgbClr val="ADBBD0"/>
                </a:solidFill>
                <a:latin typeface="Aptos"/>
              </a:defRPr>
            </a:pPr>
            <a:r>
              <a:t>robot stops before blocked cell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34256"/>
            <a:ext cx="4800600" cy="530352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4434840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07408"/>
            <a:ext cx="1600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1050" b="1">
                <a:solidFill>
                  <a:srgbClr val="F5F8FC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407408"/>
            <a:ext cx="2423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69" b="0">
                <a:solidFill>
                  <a:srgbClr val="ADBBD0"/>
                </a:solidFill>
                <a:latin typeface="Aptos"/>
              </a:defRPr>
            </a:pPr>
            <a:r>
              <a:t>core modules work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1298448"/>
            <a:ext cx="4572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REPRESENTATIVE A* RUNTIME  •  200 RUNS / GRID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1664208"/>
            <a:ext cx="141732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33288" y="2468880"/>
            <a:ext cx="1197864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950"/>
              <a:t>10 × 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5472" y="1664208"/>
            <a:ext cx="141732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2468880"/>
            <a:ext cx="1197864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950"/>
              <a:t>15 × 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87384" y="1664208"/>
            <a:ext cx="141732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97111" y="2468880"/>
            <a:ext cx="1197864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950"/>
              <a:t>20 × 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9296" y="1664208"/>
            <a:ext cx="123444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79024" y="2468880"/>
            <a:ext cx="1014984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rPr sz="950"/>
              <a:t>30 × 40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3090672"/>
            <a:ext cx="182880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33288" y="3200400"/>
            <a:ext cx="160934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3621024"/>
            <a:ext cx="1609344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t>10 × 10 explored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3090672"/>
            <a:ext cx="182880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44967" y="3200400"/>
            <a:ext cx="160934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967" y="3621024"/>
            <a:ext cx="1609344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t>15 × 20 explored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3090672"/>
            <a:ext cx="1828800" cy="11430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756648" y="3200400"/>
            <a:ext cx="160934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Aptos"/>
              </a:defRPr>
            </a:pPr>
            <a:r>
              <a:t>458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3621024"/>
            <a:ext cx="1609344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50" b="0">
                <a:solidFill>
                  <a:srgbClr val="ADBBD0"/>
                </a:solidFill>
                <a:latin typeface="Aptos"/>
              </a:defRPr>
            </a:pPr>
            <a:r>
              <a:t>20 × 30 explored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23560" y="4507992"/>
            <a:ext cx="5989320" cy="1078992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70448" y="4709160"/>
            <a:ext cx="54864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t>ALL CORE INTEGRATION TESTS PASSED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70448" y="5093208"/>
            <a:ext cx="5486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969" b="0">
                <a:solidFill>
                  <a:srgbClr val="ADBBD0"/>
                </a:solidFill>
                <a:latin typeface="Aptos"/>
              </a:defRPr>
            </a:pPr>
            <a:r>
              <a:t>5 × 5 scenario: map → A* → robot → dynamic block → replan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833872"/>
            <a:ext cx="59893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880" b="0">
                <a:solidFill>
                  <a:srgbClr val="ADBBD0"/>
                </a:solidFill>
                <a:latin typeface="Aptos"/>
              </a:defRPr>
            </a:pPr>
            <a:r>
              <a:t>Measurement note: these are representative software timings, not hardware-independent benchmarks.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33288" y="1810512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0.129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2139696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ptos"/>
              </a:rPr>
              <a:t>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1810512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0.320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2139696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ptos"/>
              </a:rPr>
              <a:t>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7112" y="1810512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  <a:latin typeface="Aptos"/>
              </a:rPr>
              <a:t>0.762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97112" y="2139696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ACC15"/>
                </a:solidFill>
                <a:latin typeface="Aptos"/>
              </a:rPr>
              <a:t>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9024" y="1810512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  <a:latin typeface="Aptos"/>
              </a:rPr>
              <a:t>1.268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9024" y="2139696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ACC15"/>
                </a:solidFill>
                <a:latin typeface="Aptos"/>
              </a:rPr>
              <a:t>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9  |  Current Scope, 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The simulator demonstrates the planning problem clearly while making its boundaries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71600"/>
            <a:ext cx="3520440" cy="43434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627632"/>
            <a:ext cx="2468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CURRENT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11680"/>
            <a:ext cx="2971800" cy="31089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Software-only simulation; no physical robot or sensors.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Two-dimensional occupancy-grid environment.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Four-direction, uniform-cost movement.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Dynamic obstacles are introduced by the user.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Tkinter provides interactive visualization and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43434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27632"/>
            <a:ext cx="2468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WHAT IT DOES NOT YET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11680"/>
            <a:ext cx="2971800" cy="31089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No sensor-based obstacle discovery.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No localization uncertainty or physical stopping distance.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No diagonal movement or weighted terrain costs.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No continuous real-world replanning workload.</a:t>
            </a:r>
          </a:p>
          <a:p>
            <a:pPr>
              <a:spcAft>
                <a:spcPts val="7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No hardware performance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371600"/>
            <a:ext cx="3520440" cy="43434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627632"/>
            <a:ext cx="2468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2971800" cy="31089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Connect sensors and physical robot control.</a:t>
            </a:r>
          </a:p>
          <a:p>
            <a:pPr>
              <a:spcAft>
                <a:spcPts val="6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Discover obstacles automatically in real time.</a:t>
            </a:r>
          </a:p>
          <a:p>
            <a:pPr>
              <a:spcAft>
                <a:spcPts val="6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Add 8-direction movement with an octile heuristic.</a:t>
            </a:r>
          </a:p>
          <a:p>
            <a:pPr>
              <a:spcAft>
                <a:spcPts val="6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Use weighted terrain and larger floor plans.</a:t>
            </a:r>
          </a:p>
          <a:p>
            <a:pPr>
              <a:spcAft>
                <a:spcPts val="6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Explore incremental replanning such as D* Lite.</a:t>
            </a:r>
          </a:p>
          <a:p>
            <a:pPr>
              <a:spcAft>
                <a:spcPts val="6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 Support image/file-based floor-plan import.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8813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The project is intentionally a controlled AI simulation: it isolates planning, decision-making, execution, and adaptation so each can be tested and explained.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9184"/>
            <a:ext cx="1106424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11  | 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ED3E8"/>
                </a:solidFill>
                <a:latin typeface="Aptos"/>
              </a:rPr>
              <a:t>How the four modules cooperate during one navigation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508760"/>
            <a:ext cx="2084831" cy="205740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AE1B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7556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2F6FC"/>
                </a:solidFill>
                <a:latin typeface="Aptos"/>
              </a:rPr>
              <a:t>Load/create occupancy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17556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ED3E8"/>
                </a:solidFill>
                <a:latin typeface="Aptos"/>
              </a:rPr>
              <a:t>map_model.py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508760"/>
            <a:ext cx="2084831" cy="205740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1" y="165506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DC4F5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1" y="1627632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2011680"/>
            <a:ext cx="17556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2F6FC"/>
                </a:solidFill>
                <a:latin typeface="Aptos"/>
              </a:rPr>
              <a:t>A* + Manhattan heuristic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1" y="2999232"/>
            <a:ext cx="17556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ED3E8"/>
                </a:solidFill>
                <a:latin typeface="Aptos"/>
              </a:rPr>
              <a:t>astar.py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9470" y="1508760"/>
            <a:ext cx="2084831" cy="205740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2" y="165506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C71E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2" y="1627632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2" y="2011680"/>
            <a:ext cx="17556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2F6FC"/>
                </a:solidFill>
                <a:latin typeface="Aptos"/>
              </a:rPr>
              <a:t>Move one safe cell at a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2" y="2999232"/>
            <a:ext cx="17556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ED3E8"/>
                </a:solidFill>
                <a:latin typeface="Aptos"/>
              </a:rPr>
              <a:t>virtual_robot.py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1461" y="1508760"/>
            <a:ext cx="2084831" cy="205740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06053" y="165506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A984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3" y="1627632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2" y="2999232"/>
            <a:ext cx="17556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ED3E8"/>
                </a:solidFill>
                <a:latin typeface="Aptos"/>
              </a:rPr>
              <a:t>virtual_robot.py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63452" y="1508760"/>
            <a:ext cx="2084831" cy="205740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28044" y="165506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AE1B8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4" y="1627632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ADAPT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3" y="2011680"/>
            <a:ext cx="17556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2F6FC"/>
                </a:solidFill>
                <a:latin typeface="Aptos"/>
              </a:rPr>
              <a:t>Replan from current position if 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3" y="2999232"/>
            <a:ext cx="175564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ED3E8"/>
                </a:solidFill>
                <a:latin typeface="Aptos"/>
              </a:rPr>
              <a:t>All modules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886200"/>
            <a:ext cx="9875520" cy="1298448"/>
          </a:xfrm>
          <a:prstGeom prst="roundRect">
            <a:avLst/>
          </a:prstGeom>
          <a:solidFill>
            <a:srgbClr val="122339"/>
          </a:solidFill>
          <a:ln w="12700">
            <a:solidFill>
              <a:srgbClr val="2AE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5321808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BECDDE"/>
                </a:solidFill>
              </a:rPr>
              <a:t>Key AI behaviour: when the environment changes, the agent validates the next move and replans instead of following a stale route.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6419088"/>
            <a:ext cx="96926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BED3E8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6400800"/>
            <a:ext cx="411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4169663"/>
            <a:ext cx="1965960" cy="713232"/>
          </a:xfrm>
          <a:prstGeom prst="roundRect">
            <a:avLst/>
          </a:prstGeom>
          <a:solidFill>
            <a:srgbClr val="192E4B"/>
          </a:solidFill>
          <a:ln w="12700">
            <a:solidFill>
              <a:srgbClr val="35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800" b="1">
                <a:solidFill>
                  <a:srgbClr val="F2F5FA"/>
                </a:solidFill>
              </a:rPr>
              <a:t>ORIGINAL ROUTE</a:t>
            </a:r>
          </a:p>
          <a:p>
            <a:pPr algn="ctr"/>
            <a:r>
              <a:rPr sz="800">
                <a:solidFill>
                  <a:srgbClr val="AFBED2"/>
                </a:solidFill>
              </a:rPr>
              <a:t>A* path is computed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3512" y="4379976"/>
            <a:ext cx="2560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ABEEF"/>
                </a:solidFill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46120" y="4169663"/>
            <a:ext cx="1965960" cy="713232"/>
          </a:xfrm>
          <a:prstGeom prst="roundRect">
            <a:avLst/>
          </a:prstGeom>
          <a:solidFill>
            <a:srgbClr val="192E4B"/>
          </a:solidFill>
          <a:ln w="12700">
            <a:solidFill>
              <a:srgbClr val="35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800" b="1">
                <a:solidFill>
                  <a:srgbClr val="F2F5FA"/>
                </a:solidFill>
              </a:rPr>
              <a:t>OBSTACLE APPEARS</a:t>
            </a:r>
          </a:p>
          <a:p>
            <a:pPr algn="ctr"/>
            <a:r>
              <a:rPr sz="800">
                <a:solidFill>
                  <a:srgbClr val="AFBED2"/>
                </a:solidFill>
              </a:rPr>
              <a:t>A route cell becomes blocked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4379976"/>
            <a:ext cx="2560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ABEEF"/>
                </a:solidFill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32120" y="4169663"/>
            <a:ext cx="1965960" cy="713232"/>
          </a:xfrm>
          <a:prstGeom prst="roundRect">
            <a:avLst/>
          </a:prstGeom>
          <a:solidFill>
            <a:srgbClr val="192E4B"/>
          </a:solidFill>
          <a:ln w="12700">
            <a:solidFill>
              <a:srgbClr val="35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800" b="1">
                <a:solidFill>
                  <a:srgbClr val="F2F5FA"/>
                </a:solidFill>
              </a:rPr>
              <a:t>SAFE STOP</a:t>
            </a:r>
          </a:p>
          <a:p>
            <a:pPr algn="ctr"/>
            <a:r>
              <a:rPr sz="800">
                <a:solidFill>
                  <a:srgbClr val="AFBED2"/>
                </a:solidFill>
              </a:rPr>
              <a:t>Robot pauses before entry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4379976"/>
            <a:ext cx="25603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ABEEF"/>
                </a:solidFill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20" y="4169663"/>
            <a:ext cx="1965960" cy="713232"/>
          </a:xfrm>
          <a:prstGeom prst="roundRect">
            <a:avLst/>
          </a:prstGeom>
          <a:solidFill>
            <a:srgbClr val="192E4B"/>
          </a:solidFill>
          <a:ln w="12700">
            <a:solidFill>
              <a:srgbClr val="35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800" b="1">
                <a:solidFill>
                  <a:srgbClr val="F2F5FA"/>
                </a:solidFill>
              </a:rPr>
              <a:t>NEW ROUTE</a:t>
            </a:r>
          </a:p>
          <a:p>
            <a:pPr algn="ctr"/>
            <a:r>
              <a:rPr sz="800">
                <a:solidFill>
                  <a:srgbClr val="AFBED2"/>
                </a:solidFill>
              </a:rPr>
              <a:t>A* replans from current cell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06052" y="2011680"/>
            <a:ext cx="17556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DCE4F0"/>
                </a:solidFill>
              </a:rPr>
              <a:t>Verify the next cell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47395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DBBD0"/>
                </a:solidFill>
                <a:latin typeface="Aptos"/>
              </a:defRPr>
            </a:pPr>
            <a:r>
              <a:t>GROUP 6  •  MD ASRAFUL HOSSAIN  •  MD. SADMAN BIN MURTOZA  •  FAHIMA SHAMEEM  •  SANJIDA JAMAN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2F6FC"/>
                </a:solidFill>
                <a:latin typeface="Aptos"/>
              </a:rPr>
              <a:t>12  |  Final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DBBD0"/>
                </a:solidFill>
                <a:latin typeface="Aptos"/>
              </a:defRPr>
            </a:pPr>
            <a:r>
              <a:t>One integrated intelligent agent: represent the world → plan intelligently → act safely → adapt to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2514600" cy="184708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22219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48840"/>
            <a:ext cx="22219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map_model.py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33472"/>
            <a:ext cx="22219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Asraful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9816" y="2404872"/>
            <a:ext cx="237744" cy="0"/>
          </a:xfrm>
          <a:prstGeom prst="line">
            <a:avLst/>
          </a:prstGeom>
          <a:ln w="2540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1481328"/>
            <a:ext cx="2514600" cy="184708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1719072"/>
            <a:ext cx="22219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148840"/>
            <a:ext cx="22219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astar.py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633472"/>
            <a:ext cx="22219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Sadman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2404872"/>
            <a:ext cx="237744" cy="0"/>
          </a:xfrm>
          <a:prstGeom prst="line">
            <a:avLst/>
          </a:prstGeom>
          <a:ln w="2540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99632" y="1481328"/>
            <a:ext cx="2514600" cy="184708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719072"/>
            <a:ext cx="22219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148840"/>
            <a:ext cx="22219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virtual_robot.py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633472"/>
            <a:ext cx="22219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Fahima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2404872"/>
            <a:ext cx="237744" cy="0"/>
          </a:xfrm>
          <a:prstGeom prst="line">
            <a:avLst/>
          </a:prstGeom>
          <a:ln w="25400">
            <a:solidFill>
              <a:srgbClr val="AD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15984" y="1481328"/>
            <a:ext cx="2514600" cy="1847088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2288" y="1719072"/>
            <a:ext cx="22219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Aptos"/>
              </a:defRPr>
            </a:pPr>
            <a:r>
              <a:t>VISUALIZE +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148840"/>
            <a:ext cx="22219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gui_graphics.py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633472"/>
            <a:ext cx="22219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ADBBD0"/>
                </a:solidFill>
                <a:latin typeface="Aptos"/>
              </a:defRPr>
            </a:pPr>
            <a:r>
              <a:t>Sanjida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730752"/>
            <a:ext cx="11018520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2F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3977639"/>
            <a:ext cx="104698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Aptos"/>
              </a:defRPr>
            </a:pPr>
            <a:r>
              <a:t>WHAT WE DEMONSTRATED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407408"/>
            <a:ext cx="104698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F2F6FC"/>
                </a:solidFill>
                <a:latin typeface="Aptos"/>
              </a:rPr>
              <a:t>A* finds a shortest safe path on the represented grid. The virtual robot executes it safely, checks the next cell before movement, and triggers replanning when a newly introduced obstacle blocks the remaining route.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13832"/>
            <a:ext cx="110185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>
                <a:solidFill>
                  <a:srgbClr val="2DC4F5"/>
                </a:solidFill>
                <a:latin typeface="Aptos"/>
              </a:rPr>
              <a:t>NEXT  →  1-MINUTE VIDEO DEMO  •  4-MINUTE GITHUB / CODE WALKTHROUGH  •  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897880"/>
            <a:ext cx="11018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9184"/>
            <a:ext cx="1106424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ptos"/>
              </a:rPr>
              <a:t>13  |  1-Minute Video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584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BED3E8"/>
                </a:solidFill>
                <a:latin typeface="Aptos"/>
              </a:rPr>
              <a:t>Autonomous Indoor Navigation — A* path planning with dynamic obstacle replanning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903720" cy="443484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18120" y="1417320"/>
            <a:ext cx="3154680" cy="4434840"/>
          </a:xfrm>
          <a:prstGeom prst="roundRect">
            <a:avLst/>
          </a:prstGeom>
          <a:solidFill>
            <a:srgbClr val="18304C"/>
          </a:solidFill>
          <a:ln w="12700">
            <a:solidFill>
              <a:srgbClr val="37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1719072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DC4F5"/>
                </a:solidFill>
                <a:latin typeface="Aptos"/>
              </a:rPr>
              <a:t>DEMO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2" y="221284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2F6FC"/>
                </a:solidFill>
                <a:latin typeface="Aptos"/>
              </a:rPr>
              <a:t>• A* path planning on an occupancy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288036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2F6FC"/>
                </a:solidFill>
                <a:latin typeface="Aptos"/>
              </a:rPr>
              <a:t>• Virtual robot follows the computed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54787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2F6FC"/>
                </a:solidFill>
                <a:latin typeface="Aptos"/>
              </a:rPr>
              <a:t>• Obstacle insertion during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421538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2F6FC"/>
                </a:solidFill>
                <a:latin typeface="Aptos"/>
              </a:rPr>
              <a:t>• Automatic replanning to a safe alternative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488289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2F6FC"/>
                </a:solidFill>
                <a:latin typeface="Aptos"/>
              </a:rPr>
              <a:t>• Live GUI visualization and performance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6419088"/>
            <a:ext cx="96926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BED3E8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00800"/>
            <a:ext cx="411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2DC4F5"/>
                </a:solidFill>
                <a:latin typeface="Aptos"/>
              </a:rPr>
              <a:t>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5705856"/>
            <a:ext cx="7269480" cy="420624"/>
          </a:xfrm>
          <a:prstGeom prst="roundRect">
            <a:avLst/>
          </a:prstGeom>
          <a:solidFill>
            <a:srgbClr val="192E4B"/>
          </a:solidFill>
          <a:ln w="12700">
            <a:solidFill>
              <a:srgbClr val="2A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2F5FA"/>
                </a:solidFill>
              </a:rPr>
              <a:t>PROJECT DEMONSTRATION  •  1:00</a:t>
            </a:r>
          </a:p>
        </p:txBody>
      </p:sp>
      <p:pic>
        <p:nvPicPr>
          <p:cNvPr id="2" name="Group6_CSE440_Demo">
            <a:hlinkClick r:id="" action="ppaction://media"/>
            <a:extLst>
              <a:ext uri="{FF2B5EF4-FFF2-40B4-BE49-F238E27FC236}">
                <a16:creationId xmlns:a16="http://schemas.microsoft.com/office/drawing/2014/main" id="{BC71C680-CEFF-13C1-EEDA-194D29876B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2676" y="1712840"/>
            <a:ext cx="6374299" cy="3896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22</cp:revision>
  <dcterms:created xsi:type="dcterms:W3CDTF">2013-01-27T09:14:16Z</dcterms:created>
  <dcterms:modified xsi:type="dcterms:W3CDTF">2026-08-26T18:06:40Z</dcterms:modified>
  <cp:category/>
</cp:coreProperties>
</file>