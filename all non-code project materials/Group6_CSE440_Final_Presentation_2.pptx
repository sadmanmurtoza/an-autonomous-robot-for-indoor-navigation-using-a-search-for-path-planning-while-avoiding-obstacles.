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89FE7-CA35-6C15-D6C8-3B4CE14766F0}" v="17" dt="2026-08-26T16:35:57.897"/>
    <p1510:client id="{8A47F41D-C717-7ACB-37C5-41930EAE3E9C}" v="6" dt="2026-08-26T18:10:38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hyperlink" Target="Group6_CSE440_Demo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6400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CSE440  • 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758952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>
                <a:solidFill>
                  <a:srgbClr val="F4F7FC"/>
                </a:solidFill>
                <a:latin typeface="Aptos"/>
              </a:rPr>
              <a:t>AUTONOMOUS INDOOR
NAVIGATION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04872"/>
            <a:ext cx="68580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AEBCD1"/>
                </a:solidFill>
                <a:latin typeface="Aptos"/>
              </a:rPr>
              <a:t>Using A* Search for Path Planning
with Dynamic Obstacle Replanning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224028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3264408"/>
            <a:ext cx="21488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C6FF"/>
                </a:solidFill>
                <a:latin typeface="Aptos"/>
              </a:rPr>
              <a:t>SOFTWARE-ONLY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75887"/>
            <a:ext cx="6583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F4F7FC"/>
                </a:solidFill>
                <a:latin typeface="Aptos"/>
              </a:rPr>
              <a:t>Python  •  Tkinter  •  Occupancy Grid  •  A*  •  Virtual Robot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960120"/>
            <a:ext cx="3657600" cy="443484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261872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26C6FF"/>
                </a:solidFill>
                <a:latin typeface="Aptos"/>
              </a:rPr>
              <a:t>PROJECT GROUP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64792"/>
            <a:ext cx="2834640" cy="2880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180" b="0">
                <a:solidFill>
                  <a:srgbClr val="F4F7FC"/>
                </a:solidFill>
                <a:latin typeface="Aptos"/>
              </a:rPr>
              <a:t>MD ASRAFUL HOSSAIN
2232845642
MD. SADMAN BIN MURTOZA
2232901642
FAHIMA SHAMEEM
2131420642
SANJIDA JAMAN
2212231042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46320"/>
            <a:ext cx="3017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AEBCD1"/>
                </a:solidFill>
                <a:latin typeface="Aptos"/>
              </a:rPr>
              <a:t>SECTION 2  •  FACULTY: MSRB
NORTH SOUTH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The AI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Indoor navigation as a goal-based intelligent-agent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703320" cy="440740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27632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306324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F4F7FC"/>
                </a:solidFill>
                <a:latin typeface="Aptos"/>
              </a:rPr>
              <a:t>Move from a chosen START cell
to a DESTINATION while avoiding
blocked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639312"/>
            <a:ext cx="30632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The agent must choose actions, maintain a valid plan, and react when the environment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4736592"/>
            <a:ext cx="9601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4754879"/>
            <a:ext cx="8686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2E0BF"/>
                </a:solidFill>
                <a:latin typeface="Aptos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36592"/>
            <a:ext cx="20574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occupancy grid + robot position + start/goal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5212080"/>
            <a:ext cx="9601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5230368"/>
            <a:ext cx="8686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C92D"/>
                </a:solidFill>
                <a:latin typeface="Aptos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212080"/>
            <a:ext cx="20574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reach destination safely with minimum grid moves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389888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INTELLIGENT-AGENT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828800"/>
            <a:ext cx="306324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82312" y="1993392"/>
            <a:ext cx="3840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32E0B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97510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REPRESENT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359152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AEBCD1"/>
                </a:solidFill>
                <a:latin typeface="Aptos"/>
              </a:rPr>
              <a:t>Model the indoor world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828800"/>
            <a:ext cx="306324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2" y="1993392"/>
            <a:ext cx="3840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8" y="197510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2359152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AEBCD1"/>
                </a:solidFill>
                <a:latin typeface="Aptos"/>
              </a:rPr>
              <a:t>Use A* to select a safe route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611880"/>
            <a:ext cx="306324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3776472"/>
            <a:ext cx="3840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FC92D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37581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4142232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AEBCD1"/>
                </a:solidFill>
                <a:latin typeface="Aptos"/>
              </a:rPr>
              <a:t>Move one cell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611880"/>
            <a:ext cx="306324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3776472"/>
            <a:ext cx="3840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AE7E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8" y="37581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ADAPT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4142232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AEBCD1"/>
                </a:solidFill>
                <a:latin typeface="Aptos"/>
              </a:rPr>
              <a:t>Replan when the route becomes blocked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468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6C6FF"/>
                </a:solidFill>
                <a:latin typeface="Aptos"/>
              </a:rPr>
              <a:t>PROJECT 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22392"/>
            <a:ext cx="45720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Build a complete, observable simulation of this loop—not a physical robot.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Environment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The floor plan is converted into a graph-search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4572000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09344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OCCUPANCY 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21408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9304" y="2121408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09928" y="2121408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0552" y="2121408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51176" y="2121408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1800" y="2121408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92424" y="2121408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2542032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9304" y="2542032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09928" y="2542032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30552" y="2542032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51176" y="2542032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71800" y="2542032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92424" y="2542032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2962656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89304" y="2962656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709928" y="2962656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30552" y="2962656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51176" y="2962656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71800" y="2962656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92424" y="2962656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68680" y="3383280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89304" y="3383280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709928" y="3383280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130552" y="3383280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51176" y="3383280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71800" y="3383280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92424" y="3383280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8680" y="3803904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289304" y="3803904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709928" y="3803904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30552" y="3803904"/>
            <a:ext cx="397764" cy="397764"/>
          </a:xfrm>
          <a:prstGeom prst="rect">
            <a:avLst/>
          </a:prstGeom>
          <a:solidFill>
            <a:srgbClr val="394E6B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551176" y="3803904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71800" y="3803904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92424" y="3803904"/>
            <a:ext cx="397764" cy="397764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1832" y="2194560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070E1D"/>
                </a:solidFill>
                <a:latin typeface="Aptos"/>
              </a:rPr>
              <a:t>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4952" y="3877056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070E1D"/>
                </a:solidFill>
                <a:latin typeface="Aptos"/>
              </a:rPr>
              <a:t>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4443984"/>
            <a:ext cx="1078992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4462272"/>
            <a:ext cx="987551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2E0BF"/>
                </a:solidFill>
                <a:latin typeface="Aptos"/>
              </a:rPr>
              <a:t>0 = FREE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9968" y="4443984"/>
            <a:ext cx="14173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75688" y="4462272"/>
            <a:ext cx="13258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6978"/>
                </a:solidFill>
                <a:latin typeface="Aptos"/>
              </a:rPr>
              <a:t>1 = OBSTACLE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937760"/>
            <a:ext cx="37490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Each cell becomes a state in the search space.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349240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AEBCD1"/>
                </a:solidFill>
                <a:latin typeface="Aptos"/>
              </a:rPr>
              <a:t>Movement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40" y="5349240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UP  •  DOWN  •  LEFT  •  RIGHT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76672" y="1353312"/>
            <a:ext cx="6245352" cy="205740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41264" y="1490472"/>
            <a:ext cx="591616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32E0BF"/>
                </a:solidFill>
                <a:latin typeface="Aptos"/>
              </a:rPr>
              <a:t>WHAT THE MAP MODULE HANDLES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1264" y="1883664"/>
            <a:ext cx="5934456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2E0BF"/>
                </a:solidFill>
                <a:latin typeface="Aptos"/>
              </a:rPr>
              <a:t>• </a:t>
            </a:r>
            <a:r>
              <a:rPr sz="1350" b="0">
                <a:solidFill>
                  <a:srgbClr val="F4F7FC"/>
                </a:solidFill>
                <a:latin typeface="Aptos"/>
              </a:rPr>
              <a:t>Creates/resizes the grid and stores free vs blocked cells.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1264" y="2290000"/>
            <a:ext cx="5934456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2E0BF"/>
                </a:solidFill>
                <a:latin typeface="Aptos"/>
              </a:rPr>
              <a:t>• </a:t>
            </a:r>
            <a:r>
              <a:rPr sz="1350" b="0">
                <a:solidFill>
                  <a:srgbClr val="F4F7FC"/>
                </a:solidFill>
                <a:latin typeface="Aptos"/>
              </a:rPr>
              <a:t>Lets the user choose valid start and destination cells.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41264" y="2696000"/>
            <a:ext cx="5934456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2E0BF"/>
                </a:solidFill>
                <a:latin typeface="Aptos"/>
              </a:rPr>
              <a:t>• </a:t>
            </a:r>
            <a:r>
              <a:rPr sz="1350" b="0">
                <a:solidFill>
                  <a:srgbClr val="F4F7FC"/>
                </a:solidFill>
                <a:latin typeface="Aptos"/>
              </a:rPr>
              <a:t>Prevents obstacles from invalidating the selected endpoints.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41264" y="3102000"/>
            <a:ext cx="5934456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2E0BF"/>
                </a:solidFill>
                <a:latin typeface="Aptos"/>
              </a:rPr>
              <a:t>• </a:t>
            </a:r>
            <a:r>
              <a:rPr sz="1350" b="0">
                <a:solidFill>
                  <a:srgbClr val="F4F7FC"/>
                </a:solidFill>
                <a:latin typeface="Aptos"/>
              </a:rPr>
              <a:t>Supports validated JSON save/load of the map.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76672" y="3593592"/>
            <a:ext cx="6245352" cy="228600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41264" y="3730752"/>
            <a:ext cx="591616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6C6FF"/>
                </a:solidFill>
                <a:latin typeface="Aptos"/>
              </a:rPr>
              <a:t>WHY THIS REPRESENTATION WORKS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41264" y="4123944"/>
            <a:ext cx="59344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26C6FF"/>
                </a:solidFill>
                <a:latin typeface="Aptos"/>
              </a:rPr>
              <a:t>• </a:t>
            </a:r>
            <a:r>
              <a:rPr sz="1120" b="0">
                <a:solidFill>
                  <a:srgbClr val="F4F7FC"/>
                </a:solidFill>
                <a:latin typeface="Aptos"/>
              </a:rPr>
              <a:t>It turns navigation into graph search with predictable unit-cost moves.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41264" y="4599431"/>
            <a:ext cx="59344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26C6FF"/>
                </a:solidFill>
                <a:latin typeface="Aptos"/>
              </a:rPr>
              <a:t>• </a:t>
            </a:r>
            <a:r>
              <a:rPr sz="1120" b="0">
                <a:solidFill>
                  <a:srgbClr val="F4F7FC"/>
                </a:solidFill>
                <a:latin typeface="Aptos"/>
              </a:rPr>
              <a:t>Four-connected movement makes Manhattan distance a natural heuristic.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41264" y="5074919"/>
            <a:ext cx="59344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>
                <a:solidFill>
                  <a:srgbClr val="26C6FF"/>
                </a:solidFill>
                <a:latin typeface="Aptos"/>
              </a:rPr>
              <a:t>• </a:t>
            </a:r>
            <a:r>
              <a:rPr sz="1120" b="0">
                <a:solidFill>
                  <a:srgbClr val="F4F7FC"/>
                </a:solidFill>
                <a:latin typeface="Aptos"/>
              </a:rPr>
              <a:t>The same grid is shared by the planner, robot, GUI, and tests.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Why A*? — Informed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A* is goal-directed: it combines what the agent has already spent with what it estimates remains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4709160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A* EVALUATION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8404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F4F7FC"/>
                </a:solidFill>
                <a:latin typeface="Aptos"/>
              </a:rPr>
              <a:t>f(n) = g(n) + h(n)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07792"/>
            <a:ext cx="749808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658368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32E0BF"/>
                </a:solidFill>
                <a:latin typeface="Aptos"/>
              </a:rPr>
              <a:t>g(n)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926080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>
                <a:solidFill>
                  <a:srgbClr val="F4F7FC"/>
                </a:solidFill>
                <a:latin typeface="Aptos"/>
              </a:rPr>
              <a:t>actual movement cost from START to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85032"/>
            <a:ext cx="749808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658368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FC92D"/>
                </a:solidFill>
                <a:latin typeface="Aptos"/>
              </a:rPr>
              <a:t>h(n)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703320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>
                <a:solidFill>
                  <a:srgbClr val="F4F7FC"/>
                </a:solidFill>
                <a:latin typeface="Aptos"/>
              </a:rPr>
              <a:t>estimated remaining distance to GOAL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749808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80559"/>
            <a:ext cx="658368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6C6FF"/>
                </a:solidFill>
                <a:latin typeface="Aptos"/>
              </a:rPr>
              <a:t>f(n)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480559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>
                <a:solidFill>
                  <a:srgbClr val="F4F7FC"/>
                </a:solidFill>
                <a:latin typeface="Aptos"/>
              </a:rPr>
              <a:t>estimated total path cost through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30368"/>
            <a:ext cx="1417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26C6FF"/>
                </a:solidFill>
                <a:latin typeface="Aptos"/>
              </a:rPr>
              <a:t>HEURISTIC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5184648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Manhattan distance  =  |r − r_goal| + |c − c_goal|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04688" y="1353312"/>
            <a:ext cx="6117336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79008" y="16642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WHY MANHATTAN?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2103120"/>
            <a:ext cx="5394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32E0BF"/>
                </a:solidFill>
                <a:latin typeface="Aptos"/>
              </a:rPr>
              <a:t>✓ </a:t>
            </a:r>
            <a:r>
              <a:rPr sz="1150" b="0">
                <a:solidFill>
                  <a:srgbClr val="F4F7FC"/>
                </a:solidFill>
                <a:latin typeface="Aptos"/>
              </a:rPr>
              <a:t>The robot moves only in four cardinal directions.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2761487"/>
            <a:ext cx="5394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32E0BF"/>
                </a:solidFill>
                <a:latin typeface="Aptos"/>
              </a:rPr>
              <a:t>✓ </a:t>
            </a:r>
            <a:r>
              <a:rPr sz="1150" b="0">
                <a:solidFill>
                  <a:srgbClr val="F4F7FC"/>
                </a:solidFill>
                <a:latin typeface="Aptos"/>
              </a:rPr>
              <a:t>Every legal move has unit cost.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3419855"/>
            <a:ext cx="5394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32E0BF"/>
                </a:solidFill>
                <a:latin typeface="Aptos"/>
              </a:rPr>
              <a:t>✓ </a:t>
            </a:r>
            <a:r>
              <a:rPr sz="1150" b="0">
                <a:solidFill>
                  <a:srgbClr val="F4F7FC"/>
                </a:solidFill>
                <a:latin typeface="Aptos"/>
              </a:rPr>
              <a:t>Manhattan distance never overestimates the true remaining cost.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4078223"/>
            <a:ext cx="5394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32E0BF"/>
                </a:solidFill>
                <a:latin typeface="Aptos"/>
              </a:rPr>
              <a:t>✓ </a:t>
            </a:r>
            <a:r>
              <a:rPr sz="1150" b="0">
                <a:solidFill>
                  <a:srgbClr val="F4F7FC"/>
                </a:solidFill>
                <a:latin typeface="Aptos"/>
              </a:rPr>
              <a:t>Therefore the heuristic is admissible for this grid.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4736591"/>
            <a:ext cx="5394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32E0BF"/>
                </a:solidFill>
                <a:latin typeface="Aptos"/>
              </a:rPr>
              <a:t>✓ </a:t>
            </a:r>
            <a:r>
              <a:rPr sz="1150" b="0">
                <a:solidFill>
                  <a:srgbClr val="F4F7FC"/>
                </a:solidFill>
                <a:latin typeface="Aptos"/>
              </a:rPr>
              <a:t>With a consistent heuristic, A* returns a shortest path whenever one exists.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79008" y="5358384"/>
            <a:ext cx="14173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24728" y="5376672"/>
            <a:ext cx="13258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AE7EFF"/>
                </a:solidFill>
                <a:latin typeface="Aptos"/>
              </a:rPr>
              <a:t>PRIORITY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358384"/>
            <a:ext cx="3840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>
                <a:solidFill>
                  <a:srgbClr val="F4F7FC"/>
                </a:solidFill>
                <a:latin typeface="Aptos"/>
              </a:rPr>
              <a:t>heapq always expands the currently lowest-f candidate.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A* Path-Planning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What actually happens when the user clicks “Find A Path”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011680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572768"/>
            <a:ext cx="3657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697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45336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4F7FC"/>
                </a:solidFill>
                <a:latin typeface="Apto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993392"/>
            <a:ext cx="1719072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AEBCD1"/>
                </a:solidFill>
                <a:latin typeface="Aptos"/>
              </a:rPr>
              <a:t>grid • start •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417320"/>
            <a:ext cx="2011680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1572768"/>
            <a:ext cx="3657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6C6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545336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4F7FC"/>
                </a:solidFill>
                <a:latin typeface="Aptos"/>
              </a:rP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993392"/>
            <a:ext cx="1719072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AEBCD1"/>
                </a:solidFill>
                <a:latin typeface="Aptos"/>
              </a:rPr>
              <a:t>lowest-f node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417320"/>
            <a:ext cx="2011680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9512" y="1572768"/>
            <a:ext cx="3657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C92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1545336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4F7FC"/>
                </a:solidFill>
                <a:latin typeface="Aptos"/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993392"/>
            <a:ext cx="1719072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AEBCD1"/>
                </a:solidFill>
                <a:latin typeface="Aptos"/>
              </a:rPr>
              <a:t>4-connected neighbors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4" y="1417320"/>
            <a:ext cx="2011680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1572768"/>
            <a:ext cx="3657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32E0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424" y="1545336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4F7FC"/>
                </a:solidFill>
                <a:latin typeface="Aptos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1993392"/>
            <a:ext cx="1719072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AEBCD1"/>
                </a:solidFill>
                <a:latin typeface="Aptos"/>
              </a:rPr>
              <a:t>g / f / parent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72" y="1417320"/>
            <a:ext cx="2011680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48088" y="1572768"/>
            <a:ext cx="3657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AE7E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1545336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4F7FC"/>
                </a:solidFill>
                <a:latin typeface="Aptos"/>
              </a:rPr>
              <a:t>RECONSTRUCT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1993392"/>
            <a:ext cx="1719072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AEBCD1"/>
                </a:solidFill>
                <a:latin typeface="Aptos"/>
              </a:rPr>
              <a:t>goal → start path</a:t>
            </a:r>
          </a:p>
        </p:txBody>
      </p:sp>
      <p:pic>
        <p:nvPicPr>
          <p:cNvPr id="27" name="Picture 26" descr="astar_gri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3072384"/>
            <a:ext cx="4754880" cy="2852927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147572" y="3072384"/>
            <a:ext cx="4754880" cy="2852927"/>
          </a:xfrm>
          <a:prstGeom prst="rect">
            <a:avLst/>
          </a:prstGeom>
          <a:noFill/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784848" y="3072384"/>
            <a:ext cx="4755777" cy="3189104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59168" y="336499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26C6FF"/>
                </a:solidFill>
                <a:latin typeface="Aptos"/>
              </a:rPr>
              <a:t>WHAT THE VISUALIZATION SHOWS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3822191"/>
            <a:ext cx="41605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1">
                <a:solidFill>
                  <a:srgbClr val="26C6FF"/>
                </a:solidFill>
                <a:latin typeface="Aptos"/>
              </a:rPr>
              <a:t>• </a:t>
            </a:r>
            <a:r>
              <a:rPr sz="1070" b="0">
                <a:solidFill>
                  <a:srgbClr val="F4F7FC"/>
                </a:solidFill>
                <a:latin typeface="Aptos"/>
              </a:rPr>
              <a:t>Explored cells show where the frontier search has actually expanded.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443983"/>
            <a:ext cx="41605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1">
                <a:solidFill>
                  <a:srgbClr val="26C6FF"/>
                </a:solidFill>
                <a:latin typeface="Aptos"/>
              </a:rPr>
              <a:t>• </a:t>
            </a:r>
            <a:r>
              <a:rPr sz="1070" b="0">
                <a:solidFill>
                  <a:srgbClr val="F4F7FC"/>
                </a:solidFill>
                <a:latin typeface="Aptos"/>
              </a:rPr>
              <a:t>The highlighted route is the final shortest safe path.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5065776"/>
            <a:ext cx="41605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1">
                <a:solidFill>
                  <a:srgbClr val="26C6FF"/>
                </a:solidFill>
                <a:latin typeface="Aptos"/>
              </a:rPr>
              <a:t>• </a:t>
            </a:r>
            <a:r>
              <a:rPr sz="1070" b="0">
                <a:solidFill>
                  <a:srgbClr val="F4F7FC"/>
                </a:solidFill>
                <a:latin typeface="Aptos"/>
              </a:rPr>
              <a:t>The visualization is generated from the planner’s returned path/explored set—not drawn manually.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59168" y="5650992"/>
            <a:ext cx="86868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04888" y="5669279"/>
            <a:ext cx="7772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C92D"/>
                </a:solidFill>
                <a:latin typeface="Aptos"/>
              </a:rPr>
              <a:t>KEY IDEA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5641848"/>
            <a:ext cx="3154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F4F7FC"/>
                </a:solidFill>
                <a:latin typeface="Aptos"/>
              </a:rPr>
              <a:t>A* searches intelligently toward the goal instead of blindly scanning the whole grid.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System Architecture &amp; Team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Four single-responsibility modules + one shared integration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413248" cy="166420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960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32E0BF"/>
                </a:solidFill>
                <a:latin typeface="Aptos"/>
              </a:rPr>
              <a:t>MEMBER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1499616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ASRAFUL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56816"/>
            <a:ext cx="14173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975104"/>
            <a:ext cx="13258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32E0BF"/>
                </a:solidFill>
                <a:latin typeface="Aptos"/>
              </a:rPr>
              <a:t>map_model.py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38528"/>
            <a:ext cx="3246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Occupancy grid • obstacles • start/goal • JSON save/load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371600"/>
            <a:ext cx="5413248" cy="166420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1536192"/>
            <a:ext cx="960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6C6FF"/>
                </a:solidFill>
                <a:latin typeface="Aptos"/>
              </a:rPr>
              <a:t>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1499616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SADMAN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5664" y="1956816"/>
            <a:ext cx="14173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1975104"/>
            <a:ext cx="13258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26C6FF"/>
                </a:solidFill>
                <a:latin typeface="Aptos"/>
              </a:rPr>
              <a:t>astar.py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1938528"/>
            <a:ext cx="3246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A* search • Manhattan heuristic • validation • replanning entry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364992"/>
            <a:ext cx="5413248" cy="166420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960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FFC92D"/>
                </a:solidFill>
                <a:latin typeface="Aptos"/>
              </a:rPr>
              <a:t>MEMBER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493008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FAHIMA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950208"/>
            <a:ext cx="14173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968496"/>
            <a:ext cx="13258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C92D"/>
                </a:solidFill>
                <a:latin typeface="Aptos"/>
              </a:rPr>
              <a:t>virtual_robot.py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931920"/>
            <a:ext cx="3246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Robot state • movement • pause/resume • blocked-cell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3364992"/>
            <a:ext cx="5413248" cy="166420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3529584"/>
            <a:ext cx="960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AE7EFF"/>
                </a:solidFill>
                <a:latin typeface="Aptos"/>
              </a:rPr>
              <a:t>MEMBER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3493008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SANJIDA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950208"/>
            <a:ext cx="14173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1384" y="3968496"/>
            <a:ext cx="13258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AE7EFF"/>
                </a:solidFill>
                <a:latin typeface="Aptos"/>
              </a:rPr>
              <a:t>gui_graphics.py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3931920"/>
            <a:ext cx="3246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Tkinter GUI • controls • visualization • dashboard •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93392" y="5376672"/>
            <a:ext cx="8211312" cy="64008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40280" y="5504688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6C6FF"/>
                </a:solidFill>
                <a:latin typeface="Aptos"/>
              </a:rPr>
              <a:t>main.py  •  SHARED GROUP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5477256"/>
            <a:ext cx="41605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4F7FC"/>
                </a:solidFill>
                <a:latin typeface="Aptos"/>
              </a:rPr>
              <a:t>Instantiates map + planner + robot, passes them to the GUI, and starts the complete application.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1" y="6108192"/>
            <a:ext cx="8001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AEBCD1"/>
                </a:solidFill>
                <a:latin typeface="Aptos"/>
              </a:rPr>
              <a:t>Important: main.py is a GROUP-LEVEL integration file, not Sadman’s individual contribution.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Virtual Robot — From Plan to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Fahima’s module executes the plan while keeping robot state consistent</a:t>
            </a:r>
          </a:p>
        </p:txBody>
      </p:sp>
      <p:pic>
        <p:nvPicPr>
          <p:cNvPr id="7" name="Picture 6" descr="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550086"/>
            <a:ext cx="5989320" cy="39772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7" y="1550086"/>
            <a:ext cx="5989320" cy="3977282"/>
          </a:xfrm>
          <a:prstGeom prst="rect">
            <a:avLst/>
          </a:prstGeom>
          <a:noFill/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12280" y="1353312"/>
            <a:ext cx="4733366" cy="465097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627632"/>
            <a:ext cx="26517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FC92D"/>
                </a:solidFill>
                <a:latin typeface="Aptos"/>
              </a:rPr>
              <a:t>VIRTUAL ROBOT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029968"/>
            <a:ext cx="1874519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6"/>
            <a:ext cx="1783079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C92D"/>
                </a:solidFill>
                <a:latin typeface="Aptos"/>
              </a:rPr>
              <a:t>CURRENT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2048256"/>
            <a:ext cx="2057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F4F7FC"/>
                </a:solidFill>
                <a:latin typeface="Aptos"/>
              </a:rPr>
              <a:t>where the robot is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651760"/>
            <a:ext cx="1874519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670048"/>
            <a:ext cx="1783079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C92D"/>
                </a:solidFill>
                <a:latin typeface="Aptos"/>
              </a:rPr>
              <a:t>TRAVELLED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670048"/>
            <a:ext cx="2057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F4F7FC"/>
                </a:solidFill>
                <a:latin typeface="Aptos"/>
              </a:rPr>
              <a:t>the path already executed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273552"/>
            <a:ext cx="1874519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40"/>
            <a:ext cx="1783079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C92D"/>
                </a:solidFill>
                <a:latin typeface="Aptos"/>
              </a:rPr>
              <a:t>REMAINING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291840"/>
            <a:ext cx="2057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F4F7FC"/>
                </a:solidFill>
                <a:latin typeface="Aptos"/>
              </a:rPr>
              <a:t>the cells still planned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95344"/>
            <a:ext cx="1874519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3913631"/>
            <a:ext cx="1783079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C92D"/>
                </a:solidFill>
                <a:latin typeface="Aptos"/>
              </a:rPr>
              <a:t>RUNNING / PAUSED / STOPPED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913631"/>
            <a:ext cx="2057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F4F7FC"/>
                </a:solidFill>
                <a:latin typeface="Aptos"/>
              </a:rPr>
              <a:t>explicit motion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4517136"/>
            <a:ext cx="1874519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535424"/>
            <a:ext cx="1783079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C92D"/>
                </a:solidFill>
                <a:latin typeface="Aptos"/>
              </a:rPr>
              <a:t>FINISHED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535424"/>
            <a:ext cx="2057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F4F7FC"/>
                </a:solidFill>
                <a:latin typeface="Aptos"/>
              </a:rPr>
              <a:t>goal reached successfully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266944"/>
            <a:ext cx="201168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6C6FF"/>
                </a:solidFill>
                <a:latin typeface="Aptos"/>
              </a:rPr>
              <a:t>CONTROL BEHAVIOUR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577840"/>
            <a:ext cx="3886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F4F7FC"/>
                </a:solidFill>
                <a:latin typeface="Aptos"/>
              </a:rPr>
              <a:t>Pause • Resume • Stop • Reset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Dynamic Obstacle Replanning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The project’s strongest AI behaviour: the agent changes its plan when the world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89888"/>
            <a:ext cx="201168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6C6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27048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FOLLOW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AEBCD1"/>
                </a:solidFill>
                <a:latin typeface="Aptos"/>
              </a:rPr>
              <a:t>Execute current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389888"/>
            <a:ext cx="201168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71216" y="1554480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2E0B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27048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AEBCD1"/>
                </a:solidFill>
                <a:latin typeface="Aptos"/>
              </a:rPr>
              <a:t>Inspect next cell before moving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1389888"/>
            <a:ext cx="201168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1554480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F697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1527048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BLOCKED?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AEBCD1"/>
                </a:solidFill>
                <a:latin typeface="Aptos"/>
              </a:rPr>
              <a:t>Stop at last safe 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389888"/>
            <a:ext cx="201168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9792" y="1554480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FC92D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1527048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REPLAN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AEBCD1"/>
                </a:solidFill>
                <a:latin typeface="Aptos"/>
              </a:rPr>
              <a:t>Run A* from current position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4352" y="1389888"/>
            <a:ext cx="2011680" cy="14173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1554480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AE7E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4" y="1527048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AEBCD1"/>
                </a:solidFill>
                <a:latin typeface="Aptos"/>
              </a:rPr>
              <a:t>Accept new safe route</a:t>
            </a:r>
          </a:p>
        </p:txBody>
      </p:sp>
      <p:pic>
        <p:nvPicPr>
          <p:cNvPr id="27" name="Picture 26" descr="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48" y="3154680"/>
            <a:ext cx="4062087" cy="2697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219648" y="3154680"/>
            <a:ext cx="4062087" cy="2697480"/>
          </a:xfrm>
          <a:prstGeom prst="rect">
            <a:avLst/>
          </a:prstGeom>
          <a:noFill/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gui_dyna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928" y="3154680"/>
            <a:ext cx="4062087" cy="26974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888928" y="3154680"/>
            <a:ext cx="4062087" cy="2697480"/>
          </a:xfrm>
          <a:prstGeom prst="rect">
            <a:avLst/>
          </a:prstGeom>
          <a:noFill/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5925312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26C6FF"/>
                </a:solidFill>
                <a:latin typeface="Aptos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5925312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C92D"/>
                </a:solidFill>
                <a:latin typeface="Aptos"/>
              </a:rPr>
              <a:t>AFTER BLOCKING THE REMAINING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GUI — Visualization, Controls &amp;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Sanjida’s interface makes the agent’s internal decisions observable</a:t>
            </a:r>
          </a:p>
        </p:txBody>
      </p:sp>
      <p:pic>
        <p:nvPicPr>
          <p:cNvPr id="7" name="Picture 6" descr="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754"/>
            <a:ext cx="6400800" cy="42505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63754"/>
            <a:ext cx="6400800" cy="4250531"/>
          </a:xfrm>
          <a:prstGeom prst="rect">
            <a:avLst/>
          </a:prstGeom>
          <a:noFill/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50608" y="1325880"/>
            <a:ext cx="4434840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4927" y="1609344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AE7EFF"/>
                </a:solidFill>
                <a:latin typeface="Aptos"/>
              </a:rPr>
              <a:t>WHAT THE USER CAN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7" y="2029968"/>
            <a:ext cx="9144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>
                <a:solidFill>
                  <a:srgbClr val="32E0BF"/>
                </a:solidFill>
                <a:latin typeface="Aptos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029968"/>
            <a:ext cx="2880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Aptos"/>
              </a:rPr>
              <a:t>free cells, obstacles, start &amp; destination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660904"/>
            <a:ext cx="9144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>
                <a:solidFill>
                  <a:srgbClr val="26C6FF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660904"/>
            <a:ext cx="2880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Aptos"/>
              </a:rPr>
              <a:t>explored cells + remaining A*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3291840"/>
            <a:ext cx="9144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>
                <a:solidFill>
                  <a:srgbClr val="FFC92D"/>
                </a:solidFill>
                <a:latin typeface="Aptos"/>
              </a:rPr>
              <a:t>ROBOT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291840"/>
            <a:ext cx="2880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Aptos"/>
              </a:rPr>
              <a:t>current position + travelled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3922776"/>
            <a:ext cx="9144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>
                <a:solidFill>
                  <a:srgbClr val="AE7EFF"/>
                </a:solidFill>
                <a:latin typeface="Aptos"/>
              </a:rPr>
              <a:t>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922776"/>
            <a:ext cx="2880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Aptos"/>
              </a:rPr>
              <a:t>start / destination / obstacle / run / pause /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4553712"/>
            <a:ext cx="9144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>
                <a:solidFill>
                  <a:srgbClr val="FF6978"/>
                </a:solidFill>
                <a:latin typeface="Aptos"/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4553712"/>
            <a:ext cx="2880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Aptos"/>
              </a:rPr>
              <a:t>path length • explored nodes • calculation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5285232"/>
            <a:ext cx="12344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26C6FF"/>
                </a:solidFill>
                <a:latin typeface="Aptos"/>
              </a:rPr>
              <a:t>Built-in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5248656"/>
            <a:ext cx="2468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F4F7FC"/>
                </a:solidFill>
                <a:latin typeface="Aptos"/>
              </a:rPr>
              <a:t>The GUI can run the integrated system-test suite and report pass/fail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Testing &amp; Measured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Correctness, failure handling, replanning, integration, and representative runtime were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166360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26C6FF"/>
                </a:solidFill>
                <a:latin typeface="Aptos"/>
              </a:rPr>
              <a:t>FUNCTIONAL TEST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4709160" cy="5029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2743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2E0B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130552"/>
            <a:ext cx="157276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Reachable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30552"/>
            <a:ext cx="2331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AEBCD1"/>
                </a:solidFill>
                <a:latin typeface="Aptos"/>
              </a:rPr>
              <a:t>valid route returned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34056"/>
            <a:ext cx="4709160" cy="5029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834640"/>
            <a:ext cx="2743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2E0B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07208"/>
            <a:ext cx="157276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Unreachable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07208"/>
            <a:ext cx="2331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AEBCD1"/>
                </a:solidFill>
                <a:latin typeface="Aptos"/>
              </a:rPr>
              <a:t>safe failure 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10712"/>
            <a:ext cx="4709160" cy="5029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511296"/>
            <a:ext cx="2743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2E0B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483864"/>
            <a:ext cx="157276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Narrow passage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483864"/>
            <a:ext cx="2331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AEBCD1"/>
                </a:solidFill>
                <a:latin typeface="Aptos"/>
              </a:rPr>
              <a:t>constrained route found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087368"/>
            <a:ext cx="4709160" cy="5029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187952"/>
            <a:ext cx="2743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2E0B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160520"/>
            <a:ext cx="157276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Obstacle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2331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AEBCD1"/>
                </a:solidFill>
                <a:latin typeface="Aptos"/>
              </a:rPr>
              <a:t>robot stops before blocked cell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764024"/>
            <a:ext cx="4709160" cy="50292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4864608"/>
            <a:ext cx="2743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2E0B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837176"/>
            <a:ext cx="157276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4F7FC"/>
                </a:solidFill>
                <a:latin typeface="Aptos"/>
              </a:rP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837176"/>
            <a:ext cx="2331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AEBCD1"/>
                </a:solidFill>
                <a:latin typeface="Aptos"/>
              </a:rPr>
              <a:t>map → A* → robot works end-to-end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1353312"/>
            <a:ext cx="5715000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4768" y="1627632"/>
            <a:ext cx="4480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26C6FF"/>
                </a:solidFill>
                <a:latin typeface="Aptos"/>
              </a:rPr>
              <a:t>REPRESENTATIVE A* RUNTIME  •  200 RUNS / GRID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029968"/>
            <a:ext cx="1170432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63056" y="2212848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26C6FF"/>
                </a:solidFill>
                <a:latin typeface="Aptos"/>
              </a:rPr>
              <a:t>0.129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2560320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26C6FF"/>
                </a:solidFill>
                <a:latin typeface="Aptos"/>
              </a:rPr>
              <a:t>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2862072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>
                <a:solidFill>
                  <a:srgbClr val="AEBCD1"/>
                </a:solidFill>
                <a:latin typeface="Aptos"/>
              </a:rPr>
              <a:t>10 ×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34072" y="2029968"/>
            <a:ext cx="1170432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70648" y="2212848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26C6FF"/>
                </a:solidFill>
                <a:latin typeface="Aptos"/>
              </a:rPr>
              <a:t>0.320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2560320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26C6FF"/>
                </a:solidFill>
                <a:latin typeface="Aptos"/>
              </a:rPr>
              <a:t>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2862072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>
                <a:solidFill>
                  <a:srgbClr val="AEBCD1"/>
                </a:solidFill>
                <a:latin typeface="Aptos"/>
              </a:rPr>
              <a:t>15 × 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41664" y="2029968"/>
            <a:ext cx="1170432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2212848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C92D"/>
                </a:solidFill>
                <a:latin typeface="Aptos"/>
              </a:rPr>
              <a:t>0.762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560320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C92D"/>
                </a:solidFill>
                <a:latin typeface="Aptos"/>
              </a:rPr>
              <a:t>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862072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>
                <a:solidFill>
                  <a:srgbClr val="AEBCD1"/>
                </a:solidFill>
                <a:latin typeface="Aptos"/>
              </a:rPr>
              <a:t>20 × 30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49256" y="2029968"/>
            <a:ext cx="1170432" cy="135331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85832" y="2212848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C92D"/>
                </a:solidFill>
                <a:latin typeface="Aptos"/>
              </a:rPr>
              <a:t>1.268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85832" y="2560320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C92D"/>
                </a:solidFill>
                <a:latin typeface="Aptos"/>
              </a:rPr>
              <a:t>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5832" y="2862072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>
                <a:solidFill>
                  <a:srgbClr val="AEBCD1"/>
                </a:solidFill>
                <a:latin typeface="Aptos"/>
              </a:rPr>
              <a:t>30 × 40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3584448"/>
            <a:ext cx="1481328" cy="98755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90488" y="3749039"/>
            <a:ext cx="13898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32E0BF"/>
                </a:solidFill>
                <a:latin typeface="Aptos"/>
              </a:rPr>
              <a:t>83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4133087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0">
                <a:solidFill>
                  <a:srgbClr val="AEBCD1"/>
                </a:solidFill>
                <a:latin typeface="Aptos"/>
              </a:rPr>
              <a:t>10 × 10 explored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82127" y="3584448"/>
            <a:ext cx="1481328" cy="98755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27848" y="3749039"/>
            <a:ext cx="13898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32E0BF"/>
                </a:solidFill>
                <a:latin typeface="Aptos"/>
              </a:rPr>
              <a:t>204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7848" y="4133087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0">
                <a:solidFill>
                  <a:srgbClr val="AEBCD1"/>
                </a:solidFill>
                <a:latin typeface="Aptos"/>
              </a:rPr>
              <a:t>15 × 20 explored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19488" y="3584448"/>
            <a:ext cx="1481328" cy="987552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65208" y="3749039"/>
            <a:ext cx="13898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32E0BF"/>
                </a:solidFill>
                <a:latin typeface="Aptos"/>
              </a:rPr>
              <a:t>458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65208" y="4133087"/>
            <a:ext cx="1389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0">
                <a:solidFill>
                  <a:srgbClr val="AEBCD1"/>
                </a:solidFill>
                <a:latin typeface="Aptos"/>
              </a:rPr>
              <a:t>20 × 30 explored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4828032"/>
            <a:ext cx="4892040" cy="612648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09360" y="4965192"/>
            <a:ext cx="4526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ALL CORE INTEGRATION TESTS PASSED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9632" y="5596128"/>
            <a:ext cx="4892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>
                <a:solidFill>
                  <a:srgbClr val="AEBCD1"/>
                </a:solidFill>
                <a:latin typeface="Aptos"/>
              </a:rPr>
              <a:t>Timing note: representative software measurements, not hardware-independent benchmarks.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Current Scope, 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The simulator demonstrates the planning problem clearly while keeping its boundaries explicit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3675887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490472"/>
            <a:ext cx="3346703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32E0BF"/>
                </a:solidFill>
                <a:latin typeface="Aptos"/>
              </a:rPr>
              <a:t>CURRENT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83664"/>
            <a:ext cx="336499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32E0BF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Software-only simulation; no physical robot or sensors.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59152"/>
            <a:ext cx="336499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32E0BF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2D binary occupancy grid.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834640"/>
            <a:ext cx="336499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32E0BF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Four-direction, uniform-cost movement.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310128"/>
            <a:ext cx="336499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32E0BF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Dynamic obstacles are user-triggered grid edits.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85616"/>
            <a:ext cx="336499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32E0BF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Tkinter provides interactive visualization and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353312"/>
            <a:ext cx="3611880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490472"/>
            <a:ext cx="328269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6978"/>
                </a:solidFill>
                <a:latin typeface="Aptos"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83664"/>
            <a:ext cx="330098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6978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No sensor-based obstacle discovery.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59152"/>
            <a:ext cx="330098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6978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No localization uncertainty or physical stopping distance.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30098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6978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No diagonal movement or weighted terrain costs.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10128"/>
            <a:ext cx="330098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6978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Repeated full A* searches may become inefficient on much larger changing maps.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6" y="1353312"/>
            <a:ext cx="3438144" cy="45262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8" y="1490472"/>
            <a:ext cx="3108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C92D"/>
                </a:solidFill>
                <a:latin typeface="Aptos"/>
              </a:rPr>
              <a:t>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1883664"/>
            <a:ext cx="31272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C92D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8-connected motion + octile heuristic.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359152"/>
            <a:ext cx="31272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C92D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Limited sensor range and discovered obstacles.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834640"/>
            <a:ext cx="31272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C92D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Weighted cells for different terrain costs.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310128"/>
            <a:ext cx="31272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1">
                <a:solidFill>
                  <a:srgbClr val="FFC92D"/>
                </a:solidFill>
                <a:latin typeface="Aptos"/>
              </a:rPr>
              <a:t>• </a:t>
            </a:r>
            <a:r>
              <a:rPr sz="1080" b="0">
                <a:solidFill>
                  <a:srgbClr val="F4F7FC"/>
                </a:solidFill>
                <a:latin typeface="Aptos"/>
              </a:rPr>
              <a:t>Import real floor plans instead of a fixed grid.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108192"/>
            <a:ext cx="101498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69" b="1">
                <a:solidFill>
                  <a:srgbClr val="AEBCD1"/>
                </a:solidFill>
                <a:latin typeface="Aptos"/>
              </a:rPr>
              <a:t>We deliberately present these as future work—not capabilities the current system does not have.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6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43891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C6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0896"/>
            <a:ext cx="10469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AEBCD1"/>
                </a:solidFill>
                <a:latin typeface="Aptos"/>
              </a:rPr>
              <a:t>A complete CSE440 intelligent-agent workflow, implemented and tested as one integrated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2011680" cy="160020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32E0BF"/>
                </a:solidFill>
                <a:latin typeface="Aptos"/>
              </a:rPr>
              <a:t>REPRESENT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F4F7FC"/>
                </a:solidFill>
                <a:latin typeface="Aptos"/>
              </a:rPr>
              <a:t>Occupancy grid
Asraful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572768"/>
            <a:ext cx="2011680" cy="160020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182880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6C6FF"/>
                </a:solidFill>
                <a:latin typeface="Aptos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331720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F4F7FC"/>
                </a:solidFill>
                <a:latin typeface="Aptos"/>
              </a:rPr>
              <a:t>A* + Manhattan
Sadman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572768"/>
            <a:ext cx="2011680" cy="160020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C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2936" y="182880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C92D"/>
                </a:solidFill>
                <a:latin typeface="Aptos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331720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F4F7FC"/>
                </a:solidFill>
                <a:latin typeface="Aptos"/>
              </a:rPr>
              <a:t>Virtual robot
Fahima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4" y="1572768"/>
            <a:ext cx="2011680" cy="160020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A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7224" y="182880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AE7EFF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2331720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F4F7FC"/>
                </a:solidFill>
                <a:latin typeface="Aptos"/>
              </a:rPr>
              <a:t>GUI + tests
Sanjida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0072" y="1572768"/>
            <a:ext cx="2011680" cy="1600200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82880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6978"/>
                </a:solidFill>
                <a:latin typeface="Aptos"/>
              </a:rPr>
              <a:t>ADAPT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2331720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F4F7FC"/>
                </a:solidFill>
                <a:latin typeface="Aptos"/>
              </a:rPr>
              <a:t>Dynamic replanning
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94760"/>
            <a:ext cx="10287000" cy="1444752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2E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069080"/>
            <a:ext cx="2926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32E0BF"/>
                </a:solidFill>
                <a:latin typeface="Aptos"/>
              </a:rPr>
              <a:t>WHAT WE ACTUALLY DEMONSTRATE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950208"/>
            <a:ext cx="667512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4F7FC"/>
                </a:solidFill>
                <a:latin typeface="Aptos"/>
              </a:rPr>
              <a:t>Shortest safe grid path  •  visible search process  •  safe cell-by-cell execution  •  automatic replanning  •  measured performance  •  integrated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5623560"/>
            <a:ext cx="5532120" cy="310896"/>
          </a:xfrm>
          <a:prstGeom prst="roundRect">
            <a:avLst/>
          </a:prstGeom>
          <a:solidFill>
            <a:srgbClr val="192B46"/>
          </a:solidFill>
          <a:ln w="12700">
            <a:solidFill>
              <a:srgbClr val="26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79" y="5641848"/>
            <a:ext cx="54406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C6FF"/>
                </a:solidFill>
                <a:latin typeface="Aptos"/>
              </a:rPr>
              <a:t>GROUP 6  •  CSE440  •  SECTION 2  •  FACULTY: MSRB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AEBCD1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39728" y="6437376"/>
            <a:ext cx="292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26C6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C4F5"/>
                </a:solidFill>
                <a:latin typeface="Aptos"/>
              </a:rPr>
              <a:t>13</a:t>
            </a:r>
          </a:p>
        </p:txBody>
      </p:sp>
      <p:sp>
        <p:nvSpPr>
          <p:cNvPr id="4" name="TextBox 3">
            <a:hlinkClick r:id="rId4"/>
          </p:cNvPr>
          <p:cNvSpPr txBox="1"/>
          <p:nvPr/>
        </p:nvSpPr>
        <p:spPr>
          <a:xfrm>
            <a:off x="1234440" y="3474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CF2FA"/>
                </a:solidFill>
                <a:latin typeface="Aptos"/>
              </a:rPr>
              <a:t>Live Demo — Autonomous Indoor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87552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Project demonstration: A* path planning with dynamic obstacle replanning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10771632" cy="4160520"/>
          </a:xfrm>
          <a:prstGeom prst="roundRect">
            <a:avLst/>
          </a:prstGeom>
          <a:solidFill>
            <a:srgbClr val="13253E"/>
          </a:solidFill>
          <a:ln w="16510">
            <a:solidFill>
              <a:srgbClr val="375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320" y="1965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C4F5"/>
                </a:solidFill>
                <a:latin typeface="Aptos"/>
              </a:rPr>
              <a:t>DEMO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395728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DE6F1"/>
                </a:solidFill>
                <a:latin typeface="Aptos"/>
              </a:rPr>
              <a:t>• A* path planning on an occupancy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980944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DE6F1"/>
                </a:solidFill>
                <a:latin typeface="Aptos"/>
              </a:rPr>
              <a:t>• Virtual robot follows the computed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566160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DE6F1"/>
                </a:solidFill>
                <a:latin typeface="Aptos"/>
              </a:rPr>
              <a:t>• Obstacle insertion during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151376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DE6F1"/>
                </a:solidFill>
                <a:latin typeface="Aptos"/>
              </a:rPr>
              <a:t>• Automatic replanning to a safe alternative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473659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DE6F1"/>
                </a:solidFill>
                <a:latin typeface="Aptos"/>
              </a:rPr>
              <a:t>• Live GUI visualization and performance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6016752"/>
            <a:ext cx="9966960" cy="429768"/>
          </a:xfrm>
          <a:prstGeom prst="roundRect">
            <a:avLst/>
          </a:prstGeom>
          <a:solidFill>
            <a:srgbClr val="18304C"/>
          </a:solidFill>
          <a:ln w="10160">
            <a:solidFill>
              <a:srgbClr val="2D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hlinkClick r:id="rId4"/>
          </p:cNvPr>
          <p:cNvSpPr txBox="1"/>
          <p:nvPr/>
        </p:nvSpPr>
        <p:spPr>
          <a:xfrm>
            <a:off x="1170432" y="6117336"/>
            <a:ext cx="96469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>
                <a:solidFill>
                  <a:schemeClr val="bg2"/>
                </a:solidFill>
              </a:rPr>
              <a:t>PROJECT DEMONSTRATION  •  A* PATH PLANNING  •  DYNAMIC REPLANNING</a:t>
            </a:r>
            <a:endParaRPr lang="en-US">
              <a:solidFill>
                <a:schemeClr val="bg2"/>
              </a:solidFill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656539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4A4B8"/>
                </a:solidFill>
                <a:latin typeface="Aptos"/>
              </a:rPr>
              <a:t>GROUP 6  •  MD ASRAFUL HOSSAIN  •  MD. SADMAN BIN MURTOZA  •  FAHIMA SHAMEEM  •  SANJIDA JAMAN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471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DC4F5"/>
                </a:solidFill>
                <a:latin typeface="Aptos"/>
              </a:rPr>
              <a:t>13</a:t>
            </a:r>
          </a:p>
        </p:txBody>
      </p:sp>
      <p:pic>
        <p:nvPicPr>
          <p:cNvPr id="20" name="2026-08-26 19-08-52">
            <a:hlinkClick r:id="" action="ppaction://media"/>
            <a:extLst>
              <a:ext uri="{FF2B5EF4-FFF2-40B4-BE49-F238E27FC236}">
                <a16:creationId xmlns:a16="http://schemas.microsoft.com/office/drawing/2014/main" id="{56B09DD2-7206-F248-EC97-272AE1170C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30243" y="1712843"/>
            <a:ext cx="6915428" cy="39071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16</cp:revision>
  <dcterms:created xsi:type="dcterms:W3CDTF">2013-01-27T09:14:16Z</dcterms:created>
  <dcterms:modified xsi:type="dcterms:W3CDTF">2026-08-26T18:11:00Z</dcterms:modified>
  <cp:category/>
</cp:coreProperties>
</file>