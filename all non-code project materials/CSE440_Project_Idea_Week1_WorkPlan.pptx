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46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3047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dark_tech_themed_digital_illustration_3d_ren_batch_1_dark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94360" y="640080"/>
            <a:ext cx="1635034" cy="457200"/>
          </a:xfrm>
          <a:prstGeom prst="roundRect">
            <a:avLst>
              <a:gd name="adj" fmla="val 28571"/>
            </a:avLst>
          </a:prstGeom>
          <a:solidFill>
            <a:srgbClr val="0A2438">
              <a:alpha val="95000"/>
            </a:srgbClr>
          </a:solidFill>
          <a:ln w="12700">
            <a:solidFill>
              <a:srgbClr val="39E58D">
                <a:alpha val="85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04088" y="785513"/>
            <a:ext cx="13807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9E58D"/>
                </a:solidFill>
              </a:rPr>
              <a:t>CSE440 • </a:t>
            </a:r>
            <a:r>
              <a:rPr lang="en-US" sz="1200" b="1" dirty="0" smtClean="0">
                <a:solidFill>
                  <a:srgbClr val="39E58D"/>
                </a:solidFill>
              </a:rPr>
              <a:t>Section 2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94360" y="1325880"/>
            <a:ext cx="5669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4200" b="1" dirty="0">
                <a:solidFill>
                  <a:srgbClr val="F4F8FB"/>
                </a:solidFill>
              </a:rPr>
              <a:t>Autonomous Robot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4F8FB"/>
                </a:solidFill>
              </a:rPr>
              <a:t>for Indoor Navigation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621792" y="27889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0DCEB"/>
                </a:solidFill>
              </a:rPr>
              <a:t>Using A* Search Algorithm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621792" y="342900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A8BED2"/>
                </a:solidFill>
              </a:rPr>
              <a:t>Project idea and Week 1 work plan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21792" y="614476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BED2"/>
                </a:solidFill>
              </a:rPr>
              <a:t>Software-only simulation • No hardware needed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digital_infographic_ui_style_illustratio_batch_2_dark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Idea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30352" y="841248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BED2"/>
                </a:solidFill>
              </a:rPr>
              <a:t>A simple indoor robot navigation simulator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30352" y="1170432"/>
            <a:ext cx="2194560" cy="0"/>
          </a:xfrm>
          <a:prstGeom prst="line">
            <a:avLst/>
          </a:prstGeom>
          <a:noFill/>
          <a:ln w="25400">
            <a:solidFill>
              <a:srgbClr val="20DCE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94360" y="1508760"/>
            <a:ext cx="5029200" cy="4251960"/>
          </a:xfrm>
          <a:prstGeom prst="roundRect">
            <a:avLst>
              <a:gd name="adj" fmla="val 3011"/>
            </a:avLst>
          </a:prstGeom>
          <a:solidFill>
            <a:srgbClr val="061421">
              <a:alpha val="92000"/>
            </a:srgbClr>
          </a:solidFill>
          <a:ln w="12700">
            <a:solidFill>
              <a:srgbClr val="27465F">
                <a:alpha val="6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680" y="178308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4F8FB"/>
                </a:solidFill>
              </a:rPr>
              <a:t>What we want to build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914400" y="242316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50" b="1" dirty="0">
                <a:solidFill>
                  <a:srgbClr val="39E58D"/>
                </a:solidFill>
              </a:rPr>
              <a:t>•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1216152" y="2441448"/>
            <a:ext cx="4087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50" dirty="0">
                <a:solidFill>
                  <a:srgbClr val="F4F8FB"/>
                </a:solidFill>
              </a:rPr>
              <a:t>A software map of a room or building.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914400" y="292608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50" b="1" dirty="0">
                <a:solidFill>
                  <a:srgbClr val="39E58D"/>
                </a:solidFill>
              </a:rPr>
              <a:t>•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1216152" y="2944368"/>
            <a:ext cx="4087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50" dirty="0">
                <a:solidFill>
                  <a:srgbClr val="F4F8FB"/>
                </a:solidFill>
              </a:rPr>
              <a:t>A virtual robot that moves on the map.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914400" y="342900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50" b="1" dirty="0">
                <a:solidFill>
                  <a:srgbClr val="39E58D"/>
                </a:solidFill>
              </a:rPr>
              <a:t>•</a:t>
            </a:r>
            <a:endParaRPr lang="en-US" sz="1950" dirty="0"/>
          </a:p>
        </p:txBody>
      </p:sp>
      <p:sp>
        <p:nvSpPr>
          <p:cNvPr id="13" name="Text 10"/>
          <p:cNvSpPr/>
          <p:nvPr/>
        </p:nvSpPr>
        <p:spPr>
          <a:xfrm>
            <a:off x="1216152" y="3447288"/>
            <a:ext cx="4087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50" dirty="0">
                <a:solidFill>
                  <a:srgbClr val="F4F8FB"/>
                </a:solidFill>
              </a:rPr>
              <a:t>A* will find the shortest safe path.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914400" y="393192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50" b="1" dirty="0">
                <a:solidFill>
                  <a:srgbClr val="39E58D"/>
                </a:solidFill>
              </a:rPr>
              <a:t>•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1216152" y="3950208"/>
            <a:ext cx="4087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50" dirty="0">
                <a:solidFill>
                  <a:srgbClr val="F4F8FB"/>
                </a:solidFill>
              </a:rPr>
              <a:t>The robot will avoid blocked cells.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914400" y="443484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50" b="1" dirty="0">
                <a:solidFill>
                  <a:srgbClr val="39E58D"/>
                </a:solidFill>
              </a:rPr>
              <a:t>•</a:t>
            </a:r>
            <a:endParaRPr lang="en-US" sz="1950" dirty="0"/>
          </a:p>
        </p:txBody>
      </p:sp>
      <p:sp>
        <p:nvSpPr>
          <p:cNvPr id="17" name="Text 14"/>
          <p:cNvSpPr/>
          <p:nvPr/>
        </p:nvSpPr>
        <p:spPr>
          <a:xfrm>
            <a:off x="1216152" y="4453128"/>
            <a:ext cx="4087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750" dirty="0">
                <a:solidFill>
                  <a:srgbClr val="F4F8FB"/>
                </a:solidFill>
              </a:rPr>
              <a:t>If a new obstacle comes, the path will update.</a:t>
            </a:r>
            <a:endParaRPr lang="en-US" sz="1750" dirty="0"/>
          </a:p>
        </p:txBody>
      </p:sp>
      <p:sp>
        <p:nvSpPr>
          <p:cNvPr id="18" name="Shape 15"/>
          <p:cNvSpPr/>
          <p:nvPr/>
        </p:nvSpPr>
        <p:spPr>
          <a:xfrm>
            <a:off x="6537960" y="1417320"/>
            <a:ext cx="457200" cy="457200"/>
          </a:xfrm>
          <a:prstGeom prst="ellipse">
            <a:avLst/>
          </a:prstGeom>
          <a:solidFill>
            <a:srgbClr val="0D2A40"/>
          </a:solidFill>
          <a:ln w="12700">
            <a:solidFill>
              <a:srgbClr val="20DCEB">
                <a:alpha val="8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611112" y="149047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4F8FB"/>
                </a:solidFill>
              </a:rPr>
              <a:t>🗺️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104888" y="149047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BED2"/>
                </a:solidFill>
              </a:rPr>
              <a:t>Indoor grid map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537960" y="2148840"/>
            <a:ext cx="457200" cy="457200"/>
          </a:xfrm>
          <a:prstGeom prst="ellipse">
            <a:avLst/>
          </a:prstGeom>
          <a:solidFill>
            <a:srgbClr val="0D2A40"/>
          </a:solidFill>
          <a:ln w="12700">
            <a:solidFill>
              <a:srgbClr val="20DCEB">
                <a:alpha val="80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611112" y="222199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4F8FB"/>
                </a:solidFill>
              </a:rPr>
              <a:t>🤖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104888" y="222199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BED2"/>
                </a:solidFill>
              </a:rPr>
              <a:t>Virtual robot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537960" y="2880360"/>
            <a:ext cx="457200" cy="457200"/>
          </a:xfrm>
          <a:prstGeom prst="ellipse">
            <a:avLst/>
          </a:prstGeom>
          <a:solidFill>
            <a:srgbClr val="0D2A40"/>
          </a:solidFill>
          <a:ln w="12700">
            <a:solidFill>
              <a:srgbClr val="20DCEB">
                <a:alpha val="80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611112" y="295351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4F8FB"/>
                </a:solidFill>
              </a:rPr>
              <a:t>✨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104888" y="295351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BED2"/>
                </a:solidFill>
              </a:rPr>
              <a:t>Shortest path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6537960" y="3611880"/>
            <a:ext cx="457200" cy="457200"/>
          </a:xfrm>
          <a:prstGeom prst="ellipse">
            <a:avLst/>
          </a:prstGeom>
          <a:solidFill>
            <a:srgbClr val="0D2A40"/>
          </a:solidFill>
          <a:ln w="12700">
            <a:solidFill>
              <a:srgbClr val="20DCEB">
                <a:alpha val="80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611112" y="368503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4F8FB"/>
                </a:solidFill>
              </a:rPr>
              <a:t>🚧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7104888" y="368503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BED2"/>
                </a:solidFill>
              </a:rPr>
              <a:t>Obstacle avoid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modern_dark_ui_dashboard_control_panel_batch_4_dark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Simple System Flow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30352" y="841248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BED2"/>
                </a:solidFill>
              </a:rPr>
              <a:t>How the project will work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30352" y="1170432"/>
            <a:ext cx="2194560" cy="0"/>
          </a:xfrm>
          <a:prstGeom prst="line">
            <a:avLst/>
          </a:prstGeom>
          <a:noFill/>
          <a:ln w="25400">
            <a:solidFill>
              <a:srgbClr val="20DCE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85800" y="1920240"/>
            <a:ext cx="1600200" cy="2606040"/>
          </a:xfrm>
          <a:prstGeom prst="roundRect">
            <a:avLst>
              <a:gd name="adj" fmla="val 8000"/>
            </a:avLst>
          </a:prstGeom>
          <a:solidFill>
            <a:srgbClr val="0B1D31">
              <a:alpha val="96000"/>
            </a:srgbClr>
          </a:solidFill>
          <a:ln w="12700">
            <a:solidFill>
              <a:srgbClr val="385875">
                <a:alpha val="65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88720" y="2148840"/>
            <a:ext cx="594360" cy="594360"/>
          </a:xfrm>
          <a:prstGeom prst="ellipse">
            <a:avLst/>
          </a:prstGeom>
          <a:solidFill>
            <a:srgbClr val="20DC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88720" y="226771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1627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50392" y="297180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F8FB"/>
                </a:solidFill>
              </a:rPr>
              <a:t>Create map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50392" y="3611880"/>
            <a:ext cx="126187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A8BED2"/>
                </a:solidFill>
              </a:rPr>
              <a:t>Make or load a grid map of the room.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971800" y="1920240"/>
            <a:ext cx="1600200" cy="2606040"/>
          </a:xfrm>
          <a:prstGeom prst="roundRect">
            <a:avLst>
              <a:gd name="adj" fmla="val 8000"/>
            </a:avLst>
          </a:prstGeom>
          <a:solidFill>
            <a:srgbClr val="0B1D31">
              <a:alpha val="96000"/>
            </a:srgbClr>
          </a:solidFill>
          <a:ln w="12700">
            <a:solidFill>
              <a:srgbClr val="385875">
                <a:alpha val="65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74720" y="2148840"/>
            <a:ext cx="594360" cy="594360"/>
          </a:xfrm>
          <a:prstGeom prst="ellipse">
            <a:avLst/>
          </a:prstGeom>
          <a:solidFill>
            <a:srgbClr val="39E58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474720" y="226771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1627"/>
                </a:solidFill>
              </a:rPr>
              <a:t>2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3136392" y="297180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F8FB"/>
                </a:solidFill>
              </a:rPr>
              <a:t>Choose points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3136392" y="3611880"/>
            <a:ext cx="126187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A8BED2"/>
                </a:solidFill>
              </a:rPr>
              <a:t>Select start and destination cells.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257800" y="1920240"/>
            <a:ext cx="1600200" cy="2606040"/>
          </a:xfrm>
          <a:prstGeom prst="roundRect">
            <a:avLst>
              <a:gd name="adj" fmla="val 8000"/>
            </a:avLst>
          </a:prstGeom>
          <a:solidFill>
            <a:srgbClr val="0B1D31">
              <a:alpha val="96000"/>
            </a:srgbClr>
          </a:solidFill>
          <a:ln w="12700">
            <a:solidFill>
              <a:srgbClr val="385875">
                <a:alpha val="65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760720" y="2148840"/>
            <a:ext cx="594360" cy="594360"/>
          </a:xfrm>
          <a:prstGeom prst="ellipse">
            <a:avLst/>
          </a:prstGeom>
          <a:solidFill>
            <a:srgbClr val="20DC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760720" y="226771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1627"/>
                </a:solidFill>
              </a:rPr>
              <a:t>3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5422392" y="297180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F8FB"/>
                </a:solidFill>
              </a:rPr>
              <a:t>Find path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5422392" y="3611880"/>
            <a:ext cx="126187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A8BED2"/>
                </a:solidFill>
              </a:rPr>
              <a:t>A* calculates the best safe route.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7543800" y="1920240"/>
            <a:ext cx="1600200" cy="2606040"/>
          </a:xfrm>
          <a:prstGeom prst="roundRect">
            <a:avLst>
              <a:gd name="adj" fmla="val 8000"/>
            </a:avLst>
          </a:prstGeom>
          <a:solidFill>
            <a:srgbClr val="0B1D31">
              <a:alpha val="96000"/>
            </a:srgbClr>
          </a:solidFill>
          <a:ln w="12700">
            <a:solidFill>
              <a:srgbClr val="385875">
                <a:alpha val="65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046720" y="2148840"/>
            <a:ext cx="594360" cy="594360"/>
          </a:xfrm>
          <a:prstGeom prst="ellipse">
            <a:avLst/>
          </a:prstGeom>
          <a:solidFill>
            <a:srgbClr val="39E58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046720" y="226771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1627"/>
                </a:solidFill>
              </a:rPr>
              <a:t>4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7708392" y="297180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F8FB"/>
                </a:solidFill>
              </a:rPr>
              <a:t>Move robot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7708392" y="3611880"/>
            <a:ext cx="126187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A8BED2"/>
                </a:solidFill>
              </a:rPr>
              <a:t>Robot follows the route step by step.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9829800" y="1920240"/>
            <a:ext cx="1600200" cy="2606040"/>
          </a:xfrm>
          <a:prstGeom prst="roundRect">
            <a:avLst>
              <a:gd name="adj" fmla="val 8000"/>
            </a:avLst>
          </a:prstGeom>
          <a:solidFill>
            <a:srgbClr val="0B1D31">
              <a:alpha val="96000"/>
            </a:srgbClr>
          </a:solidFill>
          <a:ln w="12700">
            <a:solidFill>
              <a:srgbClr val="385875">
                <a:alpha val="6500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0332720" y="2148840"/>
            <a:ext cx="594360" cy="594360"/>
          </a:xfrm>
          <a:prstGeom prst="ellipse">
            <a:avLst/>
          </a:prstGeom>
          <a:solidFill>
            <a:srgbClr val="20DC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0332720" y="226771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1627"/>
                </a:solidFill>
              </a:rPr>
              <a:t>5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9994392" y="297180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F8FB"/>
                </a:solidFill>
              </a:rPr>
              <a:t>Replan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9994392" y="3611880"/>
            <a:ext cx="126187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A8BED2"/>
                </a:solidFill>
              </a:rPr>
              <a:t>If an obstacle appears, find a new route.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1005840" y="5760720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F4F8FB"/>
                </a:solidFill>
              </a:rPr>
              <a:t>End result: user can watch the robot move and understand the path clearly.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high_resolution_composite_illustration_in_batch_3_dark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Main Features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30352" y="841248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BED2"/>
                </a:solidFill>
              </a:rPr>
              <a:t>Four parts of the complete system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30352" y="1170432"/>
            <a:ext cx="2194560" cy="0"/>
          </a:xfrm>
          <a:prstGeom prst="line">
            <a:avLst/>
          </a:prstGeom>
          <a:noFill/>
          <a:ln w="25400">
            <a:solidFill>
              <a:srgbClr val="20DCE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85800" y="1508760"/>
            <a:ext cx="2697480" cy="1874520"/>
          </a:xfrm>
          <a:prstGeom prst="roundRect">
            <a:avLst>
              <a:gd name="adj" fmla="val 5854"/>
            </a:avLst>
          </a:prstGeom>
          <a:solidFill>
            <a:srgbClr val="0B1D31">
              <a:alpha val="93000"/>
            </a:srgbClr>
          </a:solidFill>
          <a:ln w="12700">
            <a:solidFill>
              <a:srgbClr val="28465F">
                <a:alpha val="7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1728216"/>
            <a:ext cx="822960" cy="0"/>
          </a:xfrm>
          <a:prstGeom prst="line">
            <a:avLst/>
          </a:prstGeom>
          <a:noFill/>
          <a:ln w="38100">
            <a:solidFill>
              <a:srgbClr val="39E58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86968" y="1901952"/>
            <a:ext cx="2295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F8FB"/>
                </a:solidFill>
              </a:rPr>
              <a:t>1. Environment Mapping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86968" y="2377440"/>
            <a:ext cx="2295144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A8BED2"/>
                </a:solidFill>
              </a:rPr>
              <a:t>Create occupancy grid, load maps, and show the environment clearly.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3611880" y="1508760"/>
            <a:ext cx="2697480" cy="1874520"/>
          </a:xfrm>
          <a:prstGeom prst="roundRect">
            <a:avLst>
              <a:gd name="adj" fmla="val 5854"/>
            </a:avLst>
          </a:prstGeom>
          <a:solidFill>
            <a:srgbClr val="0B1D31">
              <a:alpha val="93000"/>
            </a:srgbClr>
          </a:solidFill>
          <a:ln w="12700">
            <a:solidFill>
              <a:srgbClr val="28465F">
                <a:alpha val="7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794760" y="1728216"/>
            <a:ext cx="822960" cy="0"/>
          </a:xfrm>
          <a:prstGeom prst="line">
            <a:avLst/>
          </a:prstGeom>
          <a:noFill/>
          <a:ln w="38100">
            <a:solidFill>
              <a:srgbClr val="20DC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813048" y="1901952"/>
            <a:ext cx="2295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F8FB"/>
                </a:solidFill>
              </a:rPr>
              <a:t>2. A* Path Planning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3813048" y="2377440"/>
            <a:ext cx="2295144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A8BED2"/>
                </a:solidFill>
              </a:rPr>
              <a:t>Find the shortest safe route from start to destination.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6537960" y="1508760"/>
            <a:ext cx="2697480" cy="1874520"/>
          </a:xfrm>
          <a:prstGeom prst="roundRect">
            <a:avLst>
              <a:gd name="adj" fmla="val 5854"/>
            </a:avLst>
          </a:prstGeom>
          <a:solidFill>
            <a:srgbClr val="0B1D31">
              <a:alpha val="93000"/>
            </a:srgbClr>
          </a:solidFill>
          <a:ln w="12700">
            <a:solidFill>
              <a:srgbClr val="28465F">
                <a:alpha val="70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720840" y="1728216"/>
            <a:ext cx="822960" cy="0"/>
          </a:xfrm>
          <a:prstGeom prst="line">
            <a:avLst/>
          </a:prstGeom>
          <a:noFill/>
          <a:ln w="38100">
            <a:solidFill>
              <a:srgbClr val="FFD16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739128" y="1901952"/>
            <a:ext cx="2295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F8FB"/>
                </a:solidFill>
              </a:rPr>
              <a:t>3. Obstacle Avoidance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739128" y="2377440"/>
            <a:ext cx="2295144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A8BED2"/>
                </a:solidFill>
              </a:rPr>
              <a:t>Detect new obstacles, stop safely, and replan the route.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9464040" y="1508760"/>
            <a:ext cx="2057400" cy="1874520"/>
          </a:xfrm>
          <a:prstGeom prst="roundRect">
            <a:avLst>
              <a:gd name="adj" fmla="val 5854"/>
            </a:avLst>
          </a:prstGeom>
          <a:solidFill>
            <a:srgbClr val="0B1D31">
              <a:alpha val="93000"/>
            </a:srgbClr>
          </a:solidFill>
          <a:ln w="12700">
            <a:solidFill>
              <a:srgbClr val="28465F">
                <a:alpha val="70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646920" y="1728216"/>
            <a:ext cx="822960" cy="0"/>
          </a:xfrm>
          <a:prstGeom prst="line">
            <a:avLst/>
          </a:prstGeom>
          <a:noFill/>
          <a:ln w="38100">
            <a:solidFill>
              <a:srgbClr val="5DA9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665208" y="1901952"/>
            <a:ext cx="1655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F8FB"/>
                </a:solidFill>
              </a:rPr>
              <a:t>4. Simulation Dashboard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9665208" y="2377440"/>
            <a:ext cx="1655064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A8BED2"/>
                </a:solidFill>
              </a:rPr>
              <a:t>Animate robot movement and show performance values.</a:t>
            </a:r>
            <a:endParaRPr lang="en-US" sz="1450" dirty="0"/>
          </a:p>
        </p:txBody>
      </p:sp>
      <p:sp>
        <p:nvSpPr>
          <p:cNvPr id="22" name="Shape 19"/>
          <p:cNvSpPr/>
          <p:nvPr/>
        </p:nvSpPr>
        <p:spPr>
          <a:xfrm>
            <a:off x="1005840" y="4800600"/>
            <a:ext cx="10149840" cy="804672"/>
          </a:xfrm>
          <a:prstGeom prst="roundRect">
            <a:avLst>
              <a:gd name="adj" fmla="val 13636"/>
            </a:avLst>
          </a:prstGeom>
          <a:solidFill>
            <a:srgbClr val="071524">
              <a:alpha val="82000"/>
            </a:srgbClr>
          </a:solidFill>
          <a:ln w="12700">
            <a:solidFill>
              <a:srgbClr val="2D526B">
                <a:alpha val="55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234440" y="504748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4F8FB"/>
                </a:solidFill>
              </a:rPr>
              <a:t>This is a software-focused AI/pathfinding project. It is easy to show because the output is visual.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dark_tech_themed_digital_illustration_3d_ren_batch_1_dark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Work Distribution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30352" y="841248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BED2"/>
                </a:solidFill>
              </a:rPr>
              <a:t>Four members will work on four connected parts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30352" y="1170432"/>
            <a:ext cx="2194560" cy="0"/>
          </a:xfrm>
          <a:prstGeom prst="line">
            <a:avLst/>
          </a:prstGeom>
          <a:noFill/>
          <a:ln w="25400">
            <a:solidFill>
              <a:srgbClr val="20DCE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60907" y="1289304"/>
            <a:ext cx="10469880" cy="877824"/>
          </a:xfrm>
          <a:prstGeom prst="roundRect">
            <a:avLst>
              <a:gd name="adj" fmla="val 12500"/>
            </a:avLst>
          </a:prstGeom>
          <a:solidFill>
            <a:srgbClr val="061421">
              <a:alpha val="92000"/>
            </a:srgbClr>
          </a:solidFill>
          <a:ln w="12700">
            <a:solidFill>
              <a:srgbClr val="39E58D">
                <a:alpha val="8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78992" y="159105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 err="1" smtClean="0">
                <a:solidFill>
                  <a:srgbClr val="39E58D"/>
                </a:solidFill>
              </a:rPr>
              <a:t>Asraful</a:t>
            </a:r>
            <a:r>
              <a:rPr lang="en-US" sz="1500" b="1" dirty="0" smtClean="0">
                <a:solidFill>
                  <a:srgbClr val="39E58D"/>
                </a:solidFill>
              </a:rPr>
              <a:t> Hossain </a:t>
            </a:r>
            <a:r>
              <a:rPr lang="en-US" sz="1500" b="1" dirty="0" err="1" smtClean="0">
                <a:solidFill>
                  <a:srgbClr val="39E58D"/>
                </a:solidFill>
              </a:rPr>
              <a:t>Riyan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2560320" y="155448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4F8FB"/>
                </a:solidFill>
              </a:rPr>
              <a:t>Grid Map &amp; Visual Map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5394960" y="158191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A8BED2"/>
                </a:solidFill>
              </a:rPr>
              <a:t>Create the map, show cells, obstacles, start, goal, path, and robot.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822960" y="2468880"/>
            <a:ext cx="10469880" cy="877824"/>
          </a:xfrm>
          <a:prstGeom prst="roundRect">
            <a:avLst>
              <a:gd name="adj" fmla="val 12500"/>
            </a:avLst>
          </a:prstGeom>
          <a:solidFill>
            <a:srgbClr val="061421">
              <a:alpha val="92000"/>
            </a:srgbClr>
          </a:solidFill>
          <a:ln w="12700">
            <a:solidFill>
              <a:srgbClr val="20DCEB">
                <a:alpha val="8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78992" y="276148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 err="1" smtClean="0">
                <a:solidFill>
                  <a:srgbClr val="20DCEB"/>
                </a:solidFill>
              </a:rPr>
              <a:t>Sadman</a:t>
            </a:r>
            <a:r>
              <a:rPr lang="en-US" sz="1500" b="1" dirty="0" smtClean="0">
                <a:solidFill>
                  <a:srgbClr val="20DCEB"/>
                </a:solidFill>
              </a:rPr>
              <a:t> </a:t>
            </a:r>
            <a:r>
              <a:rPr lang="en-US" sz="1500" b="1" dirty="0" err="1" smtClean="0">
                <a:solidFill>
                  <a:srgbClr val="20DCEB"/>
                </a:solidFill>
              </a:rPr>
              <a:t>Murtoza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2560320" y="272491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4F8FB"/>
                </a:solidFill>
              </a:rPr>
              <a:t>A* Algorithm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5394960" y="275234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A8BED2"/>
                </a:solidFill>
              </a:rPr>
              <a:t>Write A* code, find shortest path, and calculate path values.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822960" y="3648456"/>
            <a:ext cx="10469880" cy="877824"/>
          </a:xfrm>
          <a:prstGeom prst="roundRect">
            <a:avLst>
              <a:gd name="adj" fmla="val 12500"/>
            </a:avLst>
          </a:prstGeom>
          <a:solidFill>
            <a:srgbClr val="061421">
              <a:alpha val="92000"/>
            </a:srgbClr>
          </a:solidFill>
          <a:ln w="12700">
            <a:solidFill>
              <a:srgbClr val="FFD166">
                <a:alpha val="8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78992" y="393192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 err="1" smtClean="0">
                <a:solidFill>
                  <a:srgbClr val="FFD166"/>
                </a:solidFill>
              </a:rPr>
              <a:t>Fahima</a:t>
            </a:r>
            <a:r>
              <a:rPr lang="en-US" sz="1500" b="1" dirty="0" smtClean="0">
                <a:solidFill>
                  <a:srgbClr val="FFD166"/>
                </a:solidFill>
              </a:rPr>
              <a:t> </a:t>
            </a:r>
            <a:r>
              <a:rPr lang="en-US" sz="1500" b="1" dirty="0" err="1" smtClean="0">
                <a:solidFill>
                  <a:srgbClr val="FFD166"/>
                </a:solidFill>
              </a:rPr>
              <a:t>Shameem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2560320" y="389534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4F8FB"/>
                </a:solidFill>
              </a:rPr>
              <a:t>Robot &amp; Replanning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5394960" y="392277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A8BED2"/>
                </a:solidFill>
              </a:rPr>
              <a:t>Move the robot, stop before obstacles, and request a new route.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822960" y="4809744"/>
            <a:ext cx="10469880" cy="877824"/>
          </a:xfrm>
          <a:prstGeom prst="roundRect">
            <a:avLst>
              <a:gd name="adj" fmla="val 12500"/>
            </a:avLst>
          </a:prstGeom>
          <a:solidFill>
            <a:srgbClr val="061421">
              <a:alpha val="92000"/>
            </a:srgbClr>
          </a:solidFill>
          <a:ln w="12700">
            <a:solidFill>
              <a:srgbClr val="5DA9FF">
                <a:alpha val="8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78992" y="510235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 err="1" smtClean="0">
                <a:solidFill>
                  <a:srgbClr val="5DA9FF"/>
                </a:solidFill>
              </a:rPr>
              <a:t>Sanjida</a:t>
            </a:r>
            <a:r>
              <a:rPr lang="en-US" sz="1500" b="1" dirty="0" smtClean="0">
                <a:solidFill>
                  <a:srgbClr val="5DA9FF"/>
                </a:solidFill>
              </a:rPr>
              <a:t> </a:t>
            </a:r>
            <a:r>
              <a:rPr lang="en-US" sz="1500" b="1" dirty="0" err="1" smtClean="0">
                <a:solidFill>
                  <a:srgbClr val="5DA9FF"/>
                </a:solidFill>
              </a:rPr>
              <a:t>Jaman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2560320" y="506577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4F8FB"/>
                </a:solidFill>
              </a:rPr>
              <a:t>GUI, Testing &amp; Docs</a:t>
            </a:r>
            <a:endParaRPr lang="en-US" sz="1900" dirty="0"/>
          </a:p>
        </p:txBody>
      </p:sp>
      <p:sp>
        <p:nvSpPr>
          <p:cNvPr id="21" name="Text 18"/>
          <p:cNvSpPr/>
          <p:nvPr/>
        </p:nvSpPr>
        <p:spPr>
          <a:xfrm>
            <a:off x="5394960" y="509320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A8BED2"/>
                </a:solidFill>
              </a:rPr>
              <a:t>Build controls, test the system, and prepare screenshots and documents.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digital_infographic_ui_style_illustratio_batch_2_dark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1 Work Plan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30352" y="841248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BED2"/>
                </a:solidFill>
              </a:rPr>
              <a:t>First week tasks 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30352" y="1170432"/>
            <a:ext cx="2194560" cy="0"/>
          </a:xfrm>
          <a:prstGeom prst="line">
            <a:avLst/>
          </a:prstGeom>
          <a:noFill/>
          <a:ln w="25400">
            <a:solidFill>
              <a:srgbClr val="20DCE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1520" y="1508760"/>
            <a:ext cx="5166360" cy="3977640"/>
          </a:xfrm>
          <a:prstGeom prst="roundRect">
            <a:avLst>
              <a:gd name="adj" fmla="val 2759"/>
            </a:avLst>
          </a:prstGeom>
          <a:solidFill>
            <a:srgbClr val="0B1D31">
              <a:alpha val="93000"/>
            </a:srgbClr>
          </a:solidFill>
          <a:ln w="12700">
            <a:solidFill>
              <a:srgbClr val="28465F">
                <a:alpha val="7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14400" y="1728216"/>
            <a:ext cx="822960" cy="0"/>
          </a:xfrm>
          <a:prstGeom prst="line">
            <a:avLst/>
          </a:prstGeom>
          <a:noFill/>
          <a:ln w="38100">
            <a:solidFill>
              <a:srgbClr val="39E58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32688" y="1901952"/>
            <a:ext cx="4764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 smtClean="0">
                <a:solidFill>
                  <a:srgbClr val="F4F8FB"/>
                </a:solidFill>
              </a:rPr>
              <a:t>Task</a:t>
            </a:r>
            <a:r>
              <a:rPr lang="en-US" sz="1800" b="1" dirty="0" smtClean="0">
                <a:solidFill>
                  <a:srgbClr val="F4F8FB"/>
                </a:solidFill>
              </a:rPr>
              <a:t> </a:t>
            </a:r>
            <a:r>
              <a:rPr lang="en-US" sz="1800" b="1" dirty="0">
                <a:solidFill>
                  <a:srgbClr val="F4F8FB"/>
                </a:solidFill>
              </a:rPr>
              <a:t>1: Grid Map &amp; Visual Map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32688" y="2377440"/>
            <a:ext cx="4764024" cy="2953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A8BED2"/>
                </a:solidFill>
              </a:rPr>
              <a:t>Define grid and obstacle requirements.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A8BED2"/>
                </a:solidFill>
              </a:rPr>
              <a:t>Prepare map workflow.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A8BED2"/>
                </a:solidFill>
              </a:rPr>
              <a:t>Plan map loading and visualization.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A8BED2"/>
                </a:solidFill>
              </a:rPr>
              <a:t>Prepare sample grid layouts.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309360" y="1508760"/>
            <a:ext cx="5166360" cy="3977640"/>
          </a:xfrm>
          <a:prstGeom prst="roundRect">
            <a:avLst>
              <a:gd name="adj" fmla="val 2759"/>
            </a:avLst>
          </a:prstGeom>
          <a:solidFill>
            <a:srgbClr val="0B1D31">
              <a:alpha val="93000"/>
            </a:srgbClr>
          </a:solidFill>
          <a:ln w="12700">
            <a:solidFill>
              <a:srgbClr val="28465F">
                <a:alpha val="7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92240" y="1728216"/>
            <a:ext cx="822960" cy="0"/>
          </a:xfrm>
          <a:prstGeom prst="line">
            <a:avLst/>
          </a:prstGeom>
          <a:noFill/>
          <a:ln w="38100">
            <a:solidFill>
              <a:srgbClr val="20DC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10528" y="1901952"/>
            <a:ext cx="4764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 smtClean="0">
                <a:solidFill>
                  <a:srgbClr val="F4F8FB"/>
                </a:solidFill>
              </a:rPr>
              <a:t>Task</a:t>
            </a:r>
            <a:r>
              <a:rPr lang="en-US" sz="1800" b="1" dirty="0" smtClean="0">
                <a:solidFill>
                  <a:srgbClr val="F4F8FB"/>
                </a:solidFill>
              </a:rPr>
              <a:t> </a:t>
            </a:r>
            <a:r>
              <a:rPr lang="en-US" sz="1800" b="1" dirty="0">
                <a:solidFill>
                  <a:srgbClr val="F4F8FB"/>
                </a:solidFill>
              </a:rPr>
              <a:t>2: A* Algorithm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510528" y="2377440"/>
            <a:ext cx="4764024" cy="2953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A8BED2"/>
                </a:solidFill>
              </a:rPr>
              <a:t>Define pathfinding requirements.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A8BED2"/>
                </a:solidFill>
              </a:rPr>
              <a:t>Plan A* module structure.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A8BED2"/>
                </a:solidFill>
              </a:rPr>
              <a:t>Decide inputs: grid, start, and goal.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A8BED2"/>
                </a:solidFill>
              </a:rPr>
              <a:t>Prepare open-node and cost logic.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3154680" y="585216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4F8FB"/>
                </a:solidFill>
              </a:rPr>
              <a:t>Week 1 date: 11–17 July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5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high_resolution_composite_illustration_in_batch_3_dark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1 Work Plan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30352" y="841248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BED2"/>
                </a:solidFill>
              </a:rPr>
              <a:t>First week tasks for Member 3 and Member 4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30352" y="1170432"/>
            <a:ext cx="2194560" cy="0"/>
          </a:xfrm>
          <a:prstGeom prst="line">
            <a:avLst/>
          </a:prstGeom>
          <a:noFill/>
          <a:ln w="25400">
            <a:solidFill>
              <a:srgbClr val="20DCE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1520" y="1508760"/>
            <a:ext cx="5166360" cy="3977640"/>
          </a:xfrm>
          <a:prstGeom prst="roundRect">
            <a:avLst>
              <a:gd name="adj" fmla="val 2759"/>
            </a:avLst>
          </a:prstGeom>
          <a:solidFill>
            <a:srgbClr val="0B1D31">
              <a:alpha val="93000"/>
            </a:srgbClr>
          </a:solidFill>
          <a:ln w="12700">
            <a:solidFill>
              <a:srgbClr val="28465F">
                <a:alpha val="7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14400" y="1728216"/>
            <a:ext cx="822960" cy="0"/>
          </a:xfrm>
          <a:prstGeom prst="line">
            <a:avLst/>
          </a:prstGeom>
          <a:noFill/>
          <a:ln w="38100">
            <a:solidFill>
              <a:srgbClr val="FFD16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32688" y="1901952"/>
            <a:ext cx="4764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 smtClean="0">
                <a:solidFill>
                  <a:srgbClr val="F4F8FB"/>
                </a:solidFill>
              </a:rPr>
              <a:t>Task</a:t>
            </a:r>
            <a:r>
              <a:rPr lang="en-US" sz="1800" b="1" dirty="0" smtClean="0">
                <a:solidFill>
                  <a:srgbClr val="F4F8FB"/>
                </a:solidFill>
              </a:rPr>
              <a:t> </a:t>
            </a:r>
            <a:r>
              <a:rPr lang="en-US" sz="1800" b="1" dirty="0">
                <a:solidFill>
                  <a:srgbClr val="F4F8FB"/>
                </a:solidFill>
              </a:rPr>
              <a:t>3: Robot &amp; Replanning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32688" y="2377440"/>
            <a:ext cx="4764024" cy="2953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A8BED2"/>
                </a:solidFill>
              </a:rPr>
              <a:t>Define robot movement requirements.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A8BED2"/>
                </a:solidFill>
              </a:rPr>
              <a:t>Plan simulation module.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A8BED2"/>
                </a:solidFill>
              </a:rPr>
              <a:t>Plan dynamic obstacle behavior.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A8BED2"/>
                </a:solidFill>
              </a:rPr>
              <a:t>Decide how the robot will stop and update.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309360" y="1508760"/>
            <a:ext cx="5166360" cy="3977640"/>
          </a:xfrm>
          <a:prstGeom prst="roundRect">
            <a:avLst>
              <a:gd name="adj" fmla="val 2759"/>
            </a:avLst>
          </a:prstGeom>
          <a:solidFill>
            <a:srgbClr val="0B1D31">
              <a:alpha val="93000"/>
            </a:srgbClr>
          </a:solidFill>
          <a:ln w="12700">
            <a:solidFill>
              <a:srgbClr val="28465F">
                <a:alpha val="7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92240" y="1728216"/>
            <a:ext cx="822960" cy="0"/>
          </a:xfrm>
          <a:prstGeom prst="line">
            <a:avLst/>
          </a:prstGeom>
          <a:noFill/>
          <a:ln w="38100">
            <a:solidFill>
              <a:srgbClr val="5DA9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10528" y="1901952"/>
            <a:ext cx="4764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 smtClean="0">
                <a:solidFill>
                  <a:srgbClr val="F4F8FB"/>
                </a:solidFill>
              </a:rPr>
              <a:t>Task</a:t>
            </a:r>
            <a:r>
              <a:rPr lang="en-US" sz="1800" b="1" dirty="0" smtClean="0">
                <a:solidFill>
                  <a:srgbClr val="F4F8FB"/>
                </a:solidFill>
              </a:rPr>
              <a:t> </a:t>
            </a:r>
            <a:r>
              <a:rPr lang="en-US" sz="1800" b="1" dirty="0">
                <a:solidFill>
                  <a:srgbClr val="F4F8FB"/>
                </a:solidFill>
              </a:rPr>
              <a:t>4: GUI, Testing &amp; Docs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510528" y="2377440"/>
            <a:ext cx="4764024" cy="2953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A8BED2"/>
                </a:solidFill>
              </a:rPr>
              <a:t>Prepare development environment.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A8BED2"/>
                </a:solidFill>
              </a:rPr>
              <a:t>Create project folder structure.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A8BED2"/>
                </a:solidFill>
              </a:rPr>
              <a:t>Plan GUI module and testing module.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A8BED2"/>
                </a:solidFill>
              </a:rPr>
              <a:t>Start documentation layout.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1371600" y="5833872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F4F8FB"/>
                </a:solidFill>
              </a:rPr>
              <a:t>Goal of Week 1: setup, plan modules, and make the project ready for coding.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5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modern_dark_ui_dashboard_control_panel_batch_4_dark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Expected Final Output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30352" y="841248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BED2"/>
                </a:solidFill>
              </a:rPr>
              <a:t>What we will show at the end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30352" y="1170432"/>
            <a:ext cx="2194560" cy="0"/>
          </a:xfrm>
          <a:prstGeom prst="line">
            <a:avLst/>
          </a:prstGeom>
          <a:noFill/>
          <a:ln w="25400">
            <a:solidFill>
              <a:srgbClr val="20DCE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1520" y="1417320"/>
            <a:ext cx="5166360" cy="4389120"/>
          </a:xfrm>
          <a:prstGeom prst="roundRect">
            <a:avLst>
              <a:gd name="adj" fmla="val 2917"/>
            </a:avLst>
          </a:prstGeom>
          <a:solidFill>
            <a:srgbClr val="061421">
              <a:alpha val="92000"/>
            </a:srgbClr>
          </a:solidFill>
          <a:ln w="12700">
            <a:solidFill>
              <a:srgbClr val="27465F">
                <a:alpha val="6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87552" y="171907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4F8FB"/>
                </a:solidFill>
              </a:rPr>
              <a:t>Final simulator will: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051560" y="242316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9E58D"/>
                </a:solidFill>
              </a:rPr>
              <a:t>•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353312" y="2441448"/>
            <a:ext cx="4224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4F8FB"/>
                </a:solidFill>
              </a:rPr>
              <a:t>Create or load an indoor map.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051560" y="292608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9E58D"/>
                </a:solidFill>
              </a:rPr>
              <a:t>•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1353312" y="2944368"/>
            <a:ext cx="4224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4F8FB"/>
                </a:solidFill>
              </a:rPr>
              <a:t>Place start, destination, and obstacles.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1051560" y="342900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9E58D"/>
                </a:solidFill>
              </a:rPr>
              <a:t>•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1353312" y="3447288"/>
            <a:ext cx="4224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4F8FB"/>
                </a:solidFill>
              </a:rPr>
              <a:t>Calculate a safe route using A*.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1051560" y="393192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9E58D"/>
                </a:solidFill>
              </a:rPr>
              <a:t>•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1353312" y="3950208"/>
            <a:ext cx="4224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4F8FB"/>
                </a:solidFill>
              </a:rPr>
              <a:t>Move the robot on the route.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1051560" y="443484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9E58D"/>
                </a:solidFill>
              </a:rPr>
              <a:t>•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1353312" y="4453128"/>
            <a:ext cx="4224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4F8FB"/>
                </a:solidFill>
              </a:rPr>
              <a:t>Update path when a new obstacle appears.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6446520" y="1600200"/>
            <a:ext cx="4526280" cy="3611880"/>
          </a:xfrm>
          <a:prstGeom prst="roundRect">
            <a:avLst>
              <a:gd name="adj" fmla="val 3544"/>
            </a:avLst>
          </a:prstGeom>
          <a:solidFill>
            <a:srgbClr val="0B1D31">
              <a:alpha val="96000"/>
            </a:srgbClr>
          </a:solidFill>
          <a:ln w="12700">
            <a:solidFill>
              <a:srgbClr val="20DCEB">
                <a:alpha val="8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784848" y="19659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0DCEB"/>
                </a:solidFill>
              </a:rPr>
              <a:t>One-line presentation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6812280" y="2651760"/>
            <a:ext cx="3794760" cy="1417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F4F8FB"/>
                </a:solidFill>
              </a:rPr>
              <a:t>“Our project is a software simulator where a virtual robot finds the shortest safe path in an indoor map and changes the path if obstacles appear.”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6858000" y="4434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A8BED2"/>
                </a:solidFill>
              </a:rPr>
              <a:t>Simple • Visual • Easy to explain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628</Words>
  <Application>Microsoft Office PowerPoint</Application>
  <PresentationFormat>Widescreen</PresentationFormat>
  <Paragraphs>120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Autonomous Robot for Indoor Navigation Using A* Search</dc:title>
  <dc:subject>CSE440 Project Idea</dc:subject>
  <dc:creator>OpenAI</dc:creator>
  <cp:lastModifiedBy>User</cp:lastModifiedBy>
  <cp:revision>2</cp:revision>
  <dcterms:created xsi:type="dcterms:W3CDTF">2026-07-15T05:47:09Z</dcterms:created>
  <dcterms:modified xsi:type="dcterms:W3CDTF">2026-07-15T06:00:18Z</dcterms:modified>
</cp:coreProperties>
</file>